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Value</c:v>
                </c:pt>
              </c:strCache>
            </c:strRef>
          </c:tx>
          <c:dPt>
            <c:idx val="0"/>
            <c:spPr>
              <a:solidFill>
                <a:srgbClr val="6366F1"/>
              </a:solidFill>
            </c:spPr>
          </c:dPt>
          <c:dPt>
            <c:idx val="1"/>
            <c:spPr>
              <a:solidFill>
                <a:srgbClr val="6366F1"/>
              </a:solidFill>
            </c:spPr>
          </c:dPt>
          <c:dPt>
            <c:idx val="2"/>
            <c:spPr>
              <a:solidFill>
                <a:srgbClr val="6366F1"/>
              </a:solidFill>
            </c:spPr>
          </c:dPt>
          <c:dPt>
            <c:idx val="3"/>
            <c:spPr>
              <a:solidFill>
                <a:srgbClr val="6366F1"/>
              </a:solidFill>
            </c:spPr>
          </c:dPt>
          <c:dPt>
            <c:idx val="4"/>
            <c:spPr>
              <a:solidFill>
                <a:srgbClr val="6366F1"/>
              </a:solidFill>
            </c:spPr>
          </c:dPt>
          <c:dPt>
            <c:idx val="5"/>
            <c:spPr>
              <a:solidFill>
                <a:srgbClr val="6366F1"/>
              </a:solidFill>
            </c:spPr>
          </c:dPt>
          <c:dPt>
            <c:idx val="6"/>
            <c:spPr>
              <a:solidFill>
                <a:srgbClr val="6366F1"/>
              </a:solidFill>
            </c:spPr>
          </c:dPt>
          <c:dPt>
            <c:idx val="7"/>
            <c:spPr>
              <a:solidFill>
                <a:srgbClr val="6366F1"/>
              </a:solidFill>
            </c:spPr>
          </c:dPt>
          <c:dPt>
            <c:idx val="8"/>
            <c:spPr>
              <a:solidFill>
                <a:srgbClr val="6366F1"/>
              </a:solidFill>
            </c:spPr>
          </c:dPt>
          <c:dPt>
            <c:idx val="9"/>
            <c:spPr>
              <a:solidFill>
                <a:srgbClr val="6366F1"/>
              </a:solidFill>
            </c:spPr>
          </c:dPt>
          <c:dPt>
            <c:idx val="10"/>
            <c:spPr>
              <a:solidFill>
                <a:srgbClr val="6366F1"/>
              </a:solidFill>
            </c:spPr>
          </c:dPt>
          <c:dPt>
            <c:idx val="11"/>
            <c:spPr>
              <a:solidFill>
                <a:srgbClr val="6366F1"/>
              </a:solidFill>
            </c:spPr>
          </c:dPt>
          <c:cat>
            <c:strRef>
              <c:f>Sheet1!$A$2:$A$13</c:f>
              <c:strCache>
                <c:ptCount val="12"/>
                <c:pt idx="0">
                  <c:v>$0k–$20k</c:v>
                </c:pt>
                <c:pt idx="1">
                  <c:v>$20k–$40k</c:v>
                </c:pt>
                <c:pt idx="2">
                  <c:v>$40k–$60k</c:v>
                </c:pt>
                <c:pt idx="3">
                  <c:v>$60k–$80k</c:v>
                </c:pt>
                <c:pt idx="4">
                  <c:v>$80k–$100k</c:v>
                </c:pt>
                <c:pt idx="5">
                  <c:v>$100k–$120k</c:v>
                </c:pt>
                <c:pt idx="6">
                  <c:v>$120k–$140k</c:v>
                </c:pt>
                <c:pt idx="7">
                  <c:v>$140k–$160k</c:v>
                </c:pt>
                <c:pt idx="8">
                  <c:v>$160k–$180k</c:v>
                </c:pt>
                <c:pt idx="9">
                  <c:v>$180k–$200k</c:v>
                </c:pt>
                <c:pt idx="10">
                  <c:v>$200k–$220k</c:v>
                </c:pt>
                <c:pt idx="11">
                  <c:v>$220k–$240k</c:v>
                </c:pt>
              </c:strCache>
            </c:strRef>
          </c:cat>
          <c:val>
            <c:numRef>
              <c:f>Sheet1!$B$2:$B$13</c:f>
              <c:numCache>
                <c:formatCode>General</c:formatCode>
                <c:ptCount val="12"/>
                <c:pt idx="0">
                  <c:v>21</c:v>
                </c:pt>
                <c:pt idx="1">
                  <c:v>88</c:v>
                </c:pt>
                <c:pt idx="2">
                  <c:v>105</c:v>
                </c:pt>
                <c:pt idx="3">
                  <c:v>25</c:v>
                </c:pt>
                <c:pt idx="4">
                  <c:v>43</c:v>
                </c:pt>
                <c:pt idx="5">
                  <c:v>58</c:v>
                </c:pt>
                <c:pt idx="6">
                  <c:v>54</c:v>
                </c:pt>
                <c:pt idx="7">
                  <c:v>48</c:v>
                </c:pt>
                <c:pt idx="8">
                  <c:v>35</c:v>
                </c:pt>
                <c:pt idx="9">
                  <c:v>17</c:v>
                </c:pt>
                <c:pt idx="10">
                  <c:v>6</c:v>
                </c:pt>
                <c:pt idx="11">
                  <c:v>0</c:v>
                </c:pt>
              </c:numCache>
            </c:numRef>
          </c:val>
        </c:ser>
        <c:dLbls>
          <c:numFmt formatCode="0" sourceLinked="0"/>
          <c:txPr>
            <a:bodyPr/>
            <a:lstStyle/>
            <a:p>
              <a:pPr>
                <a:defRPr sz="10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crossAx val="-2113994440"/>
        <c:crosses val="autoZero"/>
        <c:auto val="1"/>
        <c:lblAlgn val="ctr"/>
        <c:lblOffset val="100"/>
        <c:noMultiLvlLbl val="0"/>
      </c:catAx>
      <c:valAx>
        <c:axId val="-2113994440"/>
        <c:scaling/>
        <c:delete val="0"/>
        <c:axPos val="l"/>
        <c:majorGridlines>
          <c:spPr>
            <a:ln>
              <a:solidFill>
                <a:srgbClr val="E2E8F0"/>
              </a:solidFill>
            </a:ln>
          </c:spPr>
        </c:majorGridlines>
        <c:title>
          <c:tx>
            <c:rich>
              <a:bodyPr/>
              <a:lstStyle/>
              <a:p>
                <a:r>
                  <a:rPr sz="1100"/>
                  <a:t>Number of jobs</a:t>
                </a:r>
              </a:p>
            </c:rich>
          </c:tx>
          <c:layout/>
          <c:overlay val="0"/>
        </c:title>
        <c:numFmt formatCode="0" sourceLinked="0"/>
        <c:majorTickMark val="out"/>
        <c:minorTickMark val="none"/>
        <c:tickLblPos val="nextTo"/>
        <c:spPr>
          <a:ln>
            <a:noFill/>
          </a:ln>
        </c:spPr>
        <c:crossAx val="-2068027336"/>
        <c:crosses val="autoZero"/>
      </c:valAx>
    </c:plotArea>
    <c:dispBlanksAs val="gap"/>
  </c:chart>
  <c:txPr>
    <a:bodyPr/>
    <a:lstStyle/>
    <a:p>
      <a:pPr>
        <a:defRPr sz="1000">
          <a:solidFill>
            <a:srgbClr val="33415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Value</c:v>
                </c:pt>
              </c:strCache>
            </c:strRef>
          </c:tx>
          <c:dPt>
            <c:idx val="0"/>
            <c:spPr>
              <a:solidFill>
                <a:srgbClr val="6366F1"/>
              </a:solidFill>
            </c:spPr>
          </c:dPt>
          <c:dPt>
            <c:idx val="1"/>
            <c:spPr>
              <a:solidFill>
                <a:srgbClr val="6366F1"/>
              </a:solidFill>
            </c:spPr>
          </c:dPt>
          <c:dPt>
            <c:idx val="2"/>
            <c:spPr>
              <a:solidFill>
                <a:srgbClr val="6366F1"/>
              </a:solidFill>
            </c:spPr>
          </c:dPt>
          <c:dPt>
            <c:idx val="3"/>
            <c:spPr>
              <a:solidFill>
                <a:srgbClr val="6366F1"/>
              </a:solidFill>
            </c:spPr>
          </c:dPt>
          <c:dPt>
            <c:idx val="4"/>
            <c:spPr>
              <a:solidFill>
                <a:srgbClr val="14B8A6"/>
              </a:solidFill>
            </c:spPr>
          </c:dPt>
          <c:dPt>
            <c:idx val="5"/>
            <c:spPr>
              <a:solidFill>
                <a:srgbClr val="14B8A6"/>
              </a:solidFill>
            </c:spPr>
          </c:dPt>
          <c:dPt>
            <c:idx val="6"/>
            <c:spPr>
              <a:solidFill>
                <a:srgbClr val="14B8A6"/>
              </a:solidFill>
            </c:spPr>
          </c:dPt>
          <c:dPt>
            <c:idx val="7"/>
            <c:spPr>
              <a:solidFill>
                <a:srgbClr val="14B8A6"/>
              </a:solidFill>
            </c:spPr>
          </c:dPt>
          <c:dPt>
            <c:idx val="8"/>
            <c:spPr>
              <a:solidFill>
                <a:srgbClr val="F59E0B"/>
              </a:solidFill>
            </c:spPr>
          </c:dPt>
          <c:dPt>
            <c:idx val="9"/>
            <c:spPr>
              <a:solidFill>
                <a:srgbClr val="F43F5E"/>
              </a:solidFill>
            </c:spPr>
          </c:dPt>
          <c:dPt>
            <c:idx val="10"/>
            <c:spPr>
              <a:solidFill>
                <a:srgbClr val="F43F5E"/>
              </a:solidFill>
            </c:spPr>
          </c:dPt>
          <c:dPt>
            <c:idx val="11"/>
            <c:spPr>
              <a:solidFill>
                <a:srgbClr val="F43F5E"/>
              </a:solidFill>
            </c:spPr>
          </c:dPt>
          <c:dPt>
            <c:idx val="12"/>
            <c:spPr>
              <a:solidFill>
                <a:srgbClr val="F43F5E"/>
              </a:solidFill>
            </c:spPr>
          </c:dPt>
          <c:dPt>
            <c:idx val="13"/>
            <c:spPr>
              <a:solidFill>
                <a:srgbClr val="F43F5E"/>
              </a:solidFill>
            </c:spPr>
          </c:dPt>
          <c:dPt>
            <c:idx val="14"/>
            <c:spPr>
              <a:solidFill>
                <a:srgbClr val="F43F5E"/>
              </a:solidFill>
            </c:spPr>
          </c:dPt>
          <c:cat>
            <c:strRef>
              <c:f>Sheet1!$A$2:$A$16</c:f>
              <c:strCache>
                <c:ptCount val="15"/>
                <c:pt idx="0">
                  <c:v>Austin, USA</c:v>
                </c:pt>
                <c:pt idx="1">
                  <c:v>New York, USA</c:v>
                </c:pt>
                <c:pt idx="2">
                  <c:v>San Francisco, USA</c:v>
                </c:pt>
                <c:pt idx="3">
                  <c:v>Seattle, USA</c:v>
                </c:pt>
                <c:pt idx="4">
                  <c:v>London, UK</c:v>
                </c:pt>
                <c:pt idx="5">
                  <c:v>Singapore</c:v>
                </c:pt>
                <c:pt idx="6">
                  <c:v>Toronto, Canada</c:v>
                </c:pt>
                <c:pt idx="7">
                  <c:v>Berlin, Germany</c:v>
                </c:pt>
                <c:pt idx="8">
                  <c:v>Remote</c:v>
                </c:pt>
                <c:pt idx="9">
                  <c:v>Delhi, India</c:v>
                </c:pt>
                <c:pt idx="10">
                  <c:v>Hyderabad, India</c:v>
                </c:pt>
                <c:pt idx="11">
                  <c:v>Pune, India</c:v>
                </c:pt>
                <c:pt idx="12">
                  <c:v>Chennai, India</c:v>
                </c:pt>
                <c:pt idx="13">
                  <c:v>Bangalore, India</c:v>
                </c:pt>
                <c:pt idx="14">
                  <c:v>Mumbai, India</c:v>
                </c:pt>
              </c:strCache>
            </c:strRef>
          </c:cat>
          <c:val>
            <c:numRef>
              <c:f>Sheet1!$B$2:$B$16</c:f>
              <c:numCache>
                <c:formatCode>General</c:formatCode>
                <c:ptCount val="15"/>
                <c:pt idx="0">
                  <c:v>141168.9655172414</c:v>
                </c:pt>
                <c:pt idx="1">
                  <c:v>140965.7894736842</c:v>
                </c:pt>
                <c:pt idx="2">
                  <c:v>136787.5</c:v>
                </c:pt>
                <c:pt idx="3">
                  <c:v>128368.42105263157</c:v>
                </c:pt>
                <c:pt idx="4">
                  <c:v>124115.0</c:v>
                </c:pt>
                <c:pt idx="5">
                  <c:v>120080.76923076923</c:v>
                </c:pt>
                <c:pt idx="6">
                  <c:v>109994.5945945946</c:v>
                </c:pt>
                <c:pt idx="7">
                  <c:v>104667.64705882352</c:v>
                </c:pt>
                <c:pt idx="8">
                  <c:v>87831.25</c:v>
                </c:pt>
                <c:pt idx="9">
                  <c:v>39239.393939393936</c:v>
                </c:pt>
                <c:pt idx="10">
                  <c:v>38535.294117647056</c:v>
                </c:pt>
                <c:pt idx="11">
                  <c:v>38230.0</c:v>
                </c:pt>
                <c:pt idx="12">
                  <c:v>38120.833333333336</c:v>
                </c:pt>
                <c:pt idx="13">
                  <c:v>37220.0</c:v>
                </c:pt>
                <c:pt idx="14">
                  <c:v>35209.09090909091</c:v>
                </c:pt>
              </c:numCache>
            </c:numRef>
          </c:val>
        </c:ser>
        <c:dLbls>
          <c:numFmt formatCode="$#,##0,&quot;k&quot;" sourceLinked="0"/>
          <c:txPr>
            <a:bodyPr/>
            <a:lstStyle/>
            <a:p>
              <a:pPr>
                <a:defRPr sz="10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BD5E1"/>
            </a:solidFill>
          </a:ln>
        </c:spPr>
        <c:crossAx val="-2113994440"/>
        <c:crosses val="autoZero"/>
        <c:auto val="1"/>
        <c:lblAlgn val="ctr"/>
        <c:lblOffset val="100"/>
        <c:noMultiLvlLbl val="0"/>
      </c:catAx>
      <c:valAx>
        <c:axId val="-2113994440"/>
        <c:scaling/>
        <c:delete val="0"/>
        <c:axPos val="b"/>
        <c:majorGridlines>
          <c:spPr>
            <a:ln>
              <a:solidFill>
                <a:srgbClr val="E2E8F0"/>
              </a:solidFill>
            </a:ln>
          </c:spPr>
        </c:majorGridlines>
        <c:numFmt formatCode="$#,##0,&quot;k&quot;" sourceLinked="0"/>
        <c:majorTickMark val="out"/>
        <c:minorTickMark val="none"/>
        <c:tickLblPos val="nextTo"/>
        <c:spPr>
          <a:ln>
            <a:noFill/>
          </a:ln>
        </c:spPr>
        <c:crossAx val="-2068027336"/>
        <c:crosses val="autoZero"/>
      </c:valAx>
    </c:plotArea>
    <c:dispBlanksAs val="gap"/>
  </c:chart>
  <c:txPr>
    <a:bodyPr/>
    <a:lstStyle/>
    <a:p>
      <a:pPr>
        <a:defRPr sz="1000">
          <a:solidFill>
            <a:srgbClr val="33415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Bachelors</c:v>
                </c:pt>
              </c:strCache>
            </c:strRef>
          </c:tx>
          <c:spPr>
            <a:ln w="47625">
              <a:noFill/>
            </a:ln>
          </c:spPr>
          <c:marker>
            <c:symbol val="circle"/>
            <c:size val="8"/>
            <c:spPr>
              <a:solidFill>
                <a:srgbClr val="14B8A6"/>
              </a:solidFill>
              <a:ln>
                <a:solidFill>
                  <a:srgbClr val="FFFFFF"/>
                </a:solidFill>
              </a:ln>
            </c:spPr>
          </c:marker>
          <c:xVal>
            <c:numRef>
              <c:f>Sheet1!$A$2:$A$208</c:f>
              <c:numCache>
                <c:formatCode>General</c:formatCode>
                <c:ptCount val="207"/>
                <c:pt idx="0">
                  <c:v>11.8</c:v>
                </c:pt>
                <c:pt idx="1">
                  <c:v>3.2</c:v>
                </c:pt>
                <c:pt idx="2">
                  <c:v>15.8</c:v>
                </c:pt>
                <c:pt idx="3">
                  <c:v>17.2</c:v>
                </c:pt>
                <c:pt idx="4">
                  <c:v>8.7</c:v>
                </c:pt>
                <c:pt idx="5">
                  <c:v>14.2</c:v>
                </c:pt>
                <c:pt idx="6">
                  <c:v>1.9</c:v>
                </c:pt>
                <c:pt idx="7">
                  <c:v>2.0</c:v>
                </c:pt>
                <c:pt idx="8">
                  <c:v>7.6</c:v>
                </c:pt>
                <c:pt idx="9">
                  <c:v>13.2</c:v>
                </c:pt>
                <c:pt idx="10">
                  <c:v>6.3</c:v>
                </c:pt>
                <c:pt idx="11">
                  <c:v>17.0</c:v>
                </c:pt>
                <c:pt idx="12">
                  <c:v>18.7</c:v>
                </c:pt>
                <c:pt idx="13">
                  <c:v>18.7</c:v>
                </c:pt>
                <c:pt idx="14">
                  <c:v>2.3</c:v>
                </c:pt>
                <c:pt idx="15">
                  <c:v>7.3</c:v>
                </c:pt>
                <c:pt idx="16">
                  <c:v>18.5</c:v>
                </c:pt>
                <c:pt idx="17">
                  <c:v>6.6</c:v>
                </c:pt>
                <c:pt idx="18">
                  <c:v>6.3</c:v>
                </c:pt>
                <c:pt idx="19">
                  <c:v>2.5</c:v>
                </c:pt>
                <c:pt idx="20">
                  <c:v>12.2</c:v>
                </c:pt>
                <c:pt idx="21">
                  <c:v>3.0</c:v>
                </c:pt>
                <c:pt idx="22">
                  <c:v>18.3</c:v>
                </c:pt>
                <c:pt idx="23">
                  <c:v>11.7</c:v>
                </c:pt>
                <c:pt idx="24">
                  <c:v>19.1</c:v>
                </c:pt>
                <c:pt idx="25">
                  <c:v>0.5</c:v>
                </c:pt>
                <c:pt idx="26">
                  <c:v>1.0</c:v>
                </c:pt>
                <c:pt idx="27">
                  <c:v>19.0</c:v>
                </c:pt>
                <c:pt idx="28">
                  <c:v>4.5</c:v>
                </c:pt>
                <c:pt idx="29">
                  <c:v>2.5</c:v>
                </c:pt>
                <c:pt idx="30">
                  <c:v>19.3</c:v>
                </c:pt>
                <c:pt idx="31">
                  <c:v>19.2</c:v>
                </c:pt>
                <c:pt idx="32">
                  <c:v>13.0</c:v>
                </c:pt>
                <c:pt idx="33">
                  <c:v>7.0</c:v>
                </c:pt>
                <c:pt idx="34">
                  <c:v>5.7</c:v>
                </c:pt>
                <c:pt idx="35">
                  <c:v>5.5</c:v>
                </c:pt>
                <c:pt idx="36">
                  <c:v>9.4</c:v>
                </c:pt>
                <c:pt idx="37">
                  <c:v>1.5</c:v>
                </c:pt>
                <c:pt idx="38">
                  <c:v>4.2</c:v>
                </c:pt>
                <c:pt idx="39">
                  <c:v>5.8</c:v>
                </c:pt>
                <c:pt idx="40">
                  <c:v>0.8</c:v>
                </c:pt>
                <c:pt idx="41">
                  <c:v>11.5</c:v>
                </c:pt>
                <c:pt idx="42">
                  <c:v>10.9</c:v>
                </c:pt>
                <c:pt idx="43">
                  <c:v>18.3</c:v>
                </c:pt>
                <c:pt idx="44">
                  <c:v>16.7</c:v>
                </c:pt>
                <c:pt idx="45">
                  <c:v>17.6</c:v>
                </c:pt>
                <c:pt idx="46">
                  <c:v>10.9</c:v>
                </c:pt>
                <c:pt idx="47">
                  <c:v>6.4</c:v>
                </c:pt>
                <c:pt idx="48">
                  <c:v>13.9</c:v>
                </c:pt>
                <c:pt idx="49">
                  <c:v>18.2</c:v>
                </c:pt>
                <c:pt idx="50">
                  <c:v>9.4</c:v>
                </c:pt>
                <c:pt idx="51">
                  <c:v>5.3</c:v>
                </c:pt>
                <c:pt idx="52">
                  <c:v>13.5</c:v>
                </c:pt>
                <c:pt idx="53">
                  <c:v>7.4</c:v>
                </c:pt>
                <c:pt idx="54">
                  <c:v>7.2</c:v>
                </c:pt>
                <c:pt idx="55">
                  <c:v>11.9</c:v>
                </c:pt>
                <c:pt idx="56">
                  <c:v>1.3</c:v>
                </c:pt>
                <c:pt idx="57">
                  <c:v>9.8</c:v>
                </c:pt>
                <c:pt idx="58">
                  <c:v>8.3</c:v>
                </c:pt>
                <c:pt idx="59">
                  <c:v>9.5</c:v>
                </c:pt>
                <c:pt idx="60">
                  <c:v>17.4</c:v>
                </c:pt>
                <c:pt idx="61">
                  <c:v>9.6</c:v>
                </c:pt>
                <c:pt idx="62">
                  <c:v>14.8</c:v>
                </c:pt>
                <c:pt idx="63">
                  <c:v>5.4</c:v>
                </c:pt>
                <c:pt idx="64">
                  <c:v>7.1</c:v>
                </c:pt>
                <c:pt idx="65">
                  <c:v>8.1</c:v>
                </c:pt>
                <c:pt idx="66">
                  <c:v>15.2</c:v>
                </c:pt>
                <c:pt idx="67">
                  <c:v>5.5</c:v>
                </c:pt>
                <c:pt idx="68">
                  <c:v>5.7</c:v>
                </c:pt>
                <c:pt idx="69">
                  <c:v>17.9</c:v>
                </c:pt>
                <c:pt idx="70">
                  <c:v>14.0</c:v>
                </c:pt>
                <c:pt idx="71">
                  <c:v>6.8</c:v>
                </c:pt>
                <c:pt idx="72">
                  <c:v>12.2</c:v>
                </c:pt>
                <c:pt idx="73">
                  <c:v>18.9</c:v>
                </c:pt>
                <c:pt idx="74">
                  <c:v>10.3</c:v>
                </c:pt>
                <c:pt idx="75">
                  <c:v>2.9</c:v>
                </c:pt>
                <c:pt idx="76">
                  <c:v>4.8</c:v>
                </c:pt>
                <c:pt idx="77">
                  <c:v>5.1</c:v>
                </c:pt>
                <c:pt idx="78">
                  <c:v>13.7</c:v>
                </c:pt>
                <c:pt idx="79">
                  <c:v>8.7</c:v>
                </c:pt>
                <c:pt idx="80">
                  <c:v>10.4</c:v>
                </c:pt>
                <c:pt idx="81">
                  <c:v>8.9</c:v>
                </c:pt>
                <c:pt idx="82">
                  <c:v>14.3</c:v>
                </c:pt>
                <c:pt idx="83">
                  <c:v>6.2</c:v>
                </c:pt>
                <c:pt idx="84">
                  <c:v>1.5</c:v>
                </c:pt>
                <c:pt idx="85">
                  <c:v>8.7</c:v>
                </c:pt>
                <c:pt idx="86">
                  <c:v>9.7</c:v>
                </c:pt>
                <c:pt idx="87">
                  <c:v>10.3</c:v>
                </c:pt>
                <c:pt idx="88">
                  <c:v>5.8</c:v>
                </c:pt>
                <c:pt idx="89">
                  <c:v>13.1</c:v>
                </c:pt>
                <c:pt idx="90">
                  <c:v>7.3</c:v>
                </c:pt>
                <c:pt idx="91">
                  <c:v>15.9</c:v>
                </c:pt>
                <c:pt idx="92">
                  <c:v>2.2</c:v>
                </c:pt>
                <c:pt idx="93">
                  <c:v>12.2</c:v>
                </c:pt>
                <c:pt idx="94">
                  <c:v>5.5</c:v>
                </c:pt>
                <c:pt idx="95">
                  <c:v>2.9</c:v>
                </c:pt>
                <c:pt idx="96">
                  <c:v>15.4</c:v>
                </c:pt>
                <c:pt idx="97">
                  <c:v>6.4</c:v>
                </c:pt>
                <c:pt idx="98">
                  <c:v>18.4</c:v>
                </c:pt>
                <c:pt idx="99">
                  <c:v>18.5</c:v>
                </c:pt>
                <c:pt idx="100">
                  <c:v>6.6</c:v>
                </c:pt>
                <c:pt idx="101">
                  <c:v>19.6</c:v>
                </c:pt>
                <c:pt idx="102">
                  <c:v>9.6</c:v>
                </c:pt>
                <c:pt idx="103">
                  <c:v>11.3</c:v>
                </c:pt>
                <c:pt idx="104">
                  <c:v>10.3</c:v>
                </c:pt>
                <c:pt idx="105">
                  <c:v>5.1</c:v>
                </c:pt>
                <c:pt idx="106">
                  <c:v>18.7</c:v>
                </c:pt>
                <c:pt idx="107">
                  <c:v>12.9</c:v>
                </c:pt>
                <c:pt idx="108">
                  <c:v>16.7</c:v>
                </c:pt>
                <c:pt idx="109">
                  <c:v>1.0</c:v>
                </c:pt>
                <c:pt idx="110">
                  <c:v>10.6</c:v>
                </c:pt>
                <c:pt idx="111">
                  <c:v>9.9</c:v>
                </c:pt>
                <c:pt idx="112">
                  <c:v>14.8</c:v>
                </c:pt>
                <c:pt idx="113">
                  <c:v>19.3</c:v>
                </c:pt>
                <c:pt idx="114">
                  <c:v>17.8</c:v>
                </c:pt>
                <c:pt idx="115">
                  <c:v>3.6</c:v>
                </c:pt>
                <c:pt idx="116">
                  <c:v>15.9</c:v>
                </c:pt>
                <c:pt idx="117">
                  <c:v>16.6</c:v>
                </c:pt>
                <c:pt idx="118">
                  <c:v>17.9</c:v>
                </c:pt>
                <c:pt idx="119">
                  <c:v>15.0</c:v>
                </c:pt>
                <c:pt idx="120">
                  <c:v>4.6</c:v>
                </c:pt>
                <c:pt idx="121">
                  <c:v>5.5</c:v>
                </c:pt>
                <c:pt idx="122">
                  <c:v>3.1</c:v>
                </c:pt>
                <c:pt idx="123">
                  <c:v>7.8</c:v>
                </c:pt>
                <c:pt idx="124">
                  <c:v>6.0</c:v>
                </c:pt>
                <c:pt idx="125">
                  <c:v>7.9</c:v>
                </c:pt>
                <c:pt idx="126">
                  <c:v>10.7</c:v>
                </c:pt>
                <c:pt idx="127">
                  <c:v>6.6</c:v>
                </c:pt>
                <c:pt idx="128">
                  <c:v>20.0</c:v>
                </c:pt>
                <c:pt idx="129">
                  <c:v>9.0</c:v>
                </c:pt>
                <c:pt idx="130">
                  <c:v>8.6</c:v>
                </c:pt>
                <c:pt idx="131">
                  <c:v>8.2</c:v>
                </c:pt>
                <c:pt idx="132">
                  <c:v>11.0</c:v>
                </c:pt>
                <c:pt idx="133">
                  <c:v>15.1</c:v>
                </c:pt>
                <c:pt idx="134">
                  <c:v>17.5</c:v>
                </c:pt>
                <c:pt idx="135">
                  <c:v>16.3</c:v>
                </c:pt>
                <c:pt idx="136">
                  <c:v>14.7</c:v>
                </c:pt>
                <c:pt idx="137">
                  <c:v>6.9</c:v>
                </c:pt>
                <c:pt idx="138">
                  <c:v>0.0</c:v>
                </c:pt>
                <c:pt idx="139">
                  <c:v>14.1</c:v>
                </c:pt>
                <c:pt idx="140">
                  <c:v>10.6</c:v>
                </c:pt>
                <c:pt idx="141">
                  <c:v>8.2</c:v>
                </c:pt>
                <c:pt idx="142">
                  <c:v>15.6</c:v>
                </c:pt>
                <c:pt idx="143">
                  <c:v>15.3</c:v>
                </c:pt>
                <c:pt idx="144">
                  <c:v>7.8</c:v>
                </c:pt>
                <c:pt idx="145">
                  <c:v>12.2</c:v>
                </c:pt>
                <c:pt idx="146">
                  <c:v>17.7</c:v>
                </c:pt>
                <c:pt idx="147">
                  <c:v>1.5</c:v>
                </c:pt>
                <c:pt idx="148">
                  <c:v>4.9</c:v>
                </c:pt>
                <c:pt idx="149">
                  <c:v>17.9</c:v>
                </c:pt>
                <c:pt idx="150">
                  <c:v>11.4</c:v>
                </c:pt>
                <c:pt idx="151">
                  <c:v>13.9</c:v>
                </c:pt>
                <c:pt idx="152">
                  <c:v>13.7</c:v>
                </c:pt>
                <c:pt idx="153">
                  <c:v>16.4</c:v>
                </c:pt>
                <c:pt idx="154">
                  <c:v>5.5</c:v>
                </c:pt>
                <c:pt idx="155">
                  <c:v>17.7</c:v>
                </c:pt>
                <c:pt idx="156">
                  <c:v>10.0</c:v>
                </c:pt>
                <c:pt idx="157">
                  <c:v>5.6</c:v>
                </c:pt>
                <c:pt idx="158">
                  <c:v>10.7</c:v>
                </c:pt>
                <c:pt idx="159">
                  <c:v>19.8</c:v>
                </c:pt>
                <c:pt idx="160">
                  <c:v>0.4</c:v>
                </c:pt>
                <c:pt idx="161">
                  <c:v>14.6</c:v>
                </c:pt>
                <c:pt idx="162">
                  <c:v>3.4</c:v>
                </c:pt>
                <c:pt idx="163">
                  <c:v>5.1</c:v>
                </c:pt>
                <c:pt idx="164">
                  <c:v>9.9</c:v>
                </c:pt>
                <c:pt idx="165">
                  <c:v>6.8</c:v>
                </c:pt>
                <c:pt idx="166">
                  <c:v>9.7</c:v>
                </c:pt>
                <c:pt idx="167">
                  <c:v>19.5</c:v>
                </c:pt>
                <c:pt idx="168">
                  <c:v>12.5</c:v>
                </c:pt>
                <c:pt idx="169">
                  <c:v>3.7</c:v>
                </c:pt>
                <c:pt idx="170">
                  <c:v>5.4</c:v>
                </c:pt>
                <c:pt idx="171">
                  <c:v>17.6</c:v>
                </c:pt>
                <c:pt idx="172">
                  <c:v>0.9</c:v>
                </c:pt>
                <c:pt idx="173">
                  <c:v>18.2</c:v>
                </c:pt>
                <c:pt idx="174">
                  <c:v>18.3</c:v>
                </c:pt>
                <c:pt idx="175">
                  <c:v>11.8</c:v>
                </c:pt>
                <c:pt idx="176">
                  <c:v>8.2</c:v>
                </c:pt>
                <c:pt idx="177">
                  <c:v>12.4</c:v>
                </c:pt>
                <c:pt idx="178">
                  <c:v>17.9</c:v>
                </c:pt>
                <c:pt idx="179">
                  <c:v>4.2</c:v>
                </c:pt>
                <c:pt idx="180">
                  <c:v>14.2</c:v>
                </c:pt>
                <c:pt idx="181">
                  <c:v>1.2</c:v>
                </c:pt>
                <c:pt idx="182">
                  <c:v>7.9</c:v>
                </c:pt>
                <c:pt idx="183">
                  <c:v>0.5</c:v>
                </c:pt>
                <c:pt idx="184">
                  <c:v>18.1</c:v>
                </c:pt>
                <c:pt idx="185">
                  <c:v>8.1</c:v>
                </c:pt>
                <c:pt idx="186">
                  <c:v>6.2</c:v>
                </c:pt>
                <c:pt idx="187">
                  <c:v>13.8</c:v>
                </c:pt>
                <c:pt idx="188">
                  <c:v>13.7</c:v>
                </c:pt>
                <c:pt idx="189">
                  <c:v>8.4</c:v>
                </c:pt>
                <c:pt idx="190">
                  <c:v>18.2</c:v>
                </c:pt>
                <c:pt idx="191">
                  <c:v>2.3</c:v>
                </c:pt>
                <c:pt idx="192">
                  <c:v>0.4</c:v>
                </c:pt>
                <c:pt idx="193">
                  <c:v>7.5</c:v>
                </c:pt>
                <c:pt idx="194">
                  <c:v>0.1</c:v>
                </c:pt>
                <c:pt idx="195">
                  <c:v>12.9</c:v>
                </c:pt>
                <c:pt idx="196">
                  <c:v>10.1</c:v>
                </c:pt>
                <c:pt idx="197">
                  <c:v>6.4</c:v>
                </c:pt>
                <c:pt idx="198">
                  <c:v>8.5</c:v>
                </c:pt>
                <c:pt idx="199">
                  <c:v>14.3</c:v>
                </c:pt>
                <c:pt idx="200">
                  <c:v>18.2</c:v>
                </c:pt>
                <c:pt idx="201">
                  <c:v>10.7</c:v>
                </c:pt>
                <c:pt idx="202">
                  <c:v>9.6</c:v>
                </c:pt>
                <c:pt idx="203">
                  <c:v>17.0</c:v>
                </c:pt>
                <c:pt idx="204">
                  <c:v>5.8</c:v>
                </c:pt>
                <c:pt idx="205">
                  <c:v>7.3</c:v>
                </c:pt>
                <c:pt idx="206">
                  <c:v>6.9</c:v>
                </c:pt>
              </c:numCache>
            </c:numRef>
          </c:xVal>
          <c:yVal>
            <c:numRef>
              <c:f>Sheet1!$B$2:$B$208</c:f>
              <c:numCache>
                <c:formatCode>General</c:formatCode>
                <c:ptCount val="207"/>
                <c:pt idx="0">
                  <c:v>34400</c:v>
                </c:pt>
                <c:pt idx="1">
                  <c:v>24700</c:v>
                </c:pt>
                <c:pt idx="2">
                  <c:v>192800</c:v>
                </c:pt>
                <c:pt idx="3">
                  <c:v>162900</c:v>
                </c:pt>
                <c:pt idx="4">
                  <c:v>85300</c:v>
                </c:pt>
                <c:pt idx="5">
                  <c:v>87300</c:v>
                </c:pt>
                <c:pt idx="6">
                  <c:v>87100</c:v>
                </c:pt>
                <c:pt idx="7">
                  <c:v>8000</c:v>
                </c:pt>
                <c:pt idx="8">
                  <c:v>138700</c:v>
                </c:pt>
                <c:pt idx="9">
                  <c:v>42400</c:v>
                </c:pt>
                <c:pt idx="10">
                  <c:v>138200</c:v>
                </c:pt>
                <c:pt idx="11">
                  <c:v>175300</c:v>
                </c:pt>
                <c:pt idx="12">
                  <c:v>49600</c:v>
                </c:pt>
                <c:pt idx="13">
                  <c:v>55100</c:v>
                </c:pt>
                <c:pt idx="14">
                  <c:v>25900</c:v>
                </c:pt>
                <c:pt idx="15">
                  <c:v>96300</c:v>
                </c:pt>
                <c:pt idx="16">
                  <c:v>59600</c:v>
                </c:pt>
                <c:pt idx="17">
                  <c:v>105900</c:v>
                </c:pt>
                <c:pt idx="18">
                  <c:v>90600</c:v>
                </c:pt>
                <c:pt idx="19">
                  <c:v>101100</c:v>
                </c:pt>
                <c:pt idx="20">
                  <c:v>40200</c:v>
                </c:pt>
                <c:pt idx="21">
                  <c:v>18900</c:v>
                </c:pt>
                <c:pt idx="22">
                  <c:v>147700</c:v>
                </c:pt>
                <c:pt idx="23">
                  <c:v>40200</c:v>
                </c:pt>
                <c:pt idx="24">
                  <c:v>204800</c:v>
                </c:pt>
                <c:pt idx="25">
                  <c:v>32400</c:v>
                </c:pt>
                <c:pt idx="26">
                  <c:v>28200</c:v>
                </c:pt>
                <c:pt idx="27">
                  <c:v>51600</c:v>
                </c:pt>
                <c:pt idx="28">
                  <c:v>32500</c:v>
                </c:pt>
                <c:pt idx="29">
                  <c:v>80900</c:v>
                </c:pt>
                <c:pt idx="30">
                  <c:v>141000</c:v>
                </c:pt>
                <c:pt idx="31">
                  <c:v>178800</c:v>
                </c:pt>
                <c:pt idx="32">
                  <c:v>164200</c:v>
                </c:pt>
                <c:pt idx="33">
                  <c:v>28800</c:v>
                </c:pt>
                <c:pt idx="34">
                  <c:v>29300</c:v>
                </c:pt>
                <c:pt idx="35">
                  <c:v>111700</c:v>
                </c:pt>
                <c:pt idx="36">
                  <c:v>31100</c:v>
                </c:pt>
                <c:pt idx="37">
                  <c:v>17700</c:v>
                </c:pt>
                <c:pt idx="38">
                  <c:v>30400</c:v>
                </c:pt>
                <c:pt idx="39">
                  <c:v>37200</c:v>
                </c:pt>
                <c:pt idx="40">
                  <c:v>23600</c:v>
                </c:pt>
                <c:pt idx="41">
                  <c:v>43200</c:v>
                </c:pt>
                <c:pt idx="42">
                  <c:v>34100</c:v>
                </c:pt>
                <c:pt idx="43">
                  <c:v>160000</c:v>
                </c:pt>
                <c:pt idx="44">
                  <c:v>44600</c:v>
                </c:pt>
                <c:pt idx="45">
                  <c:v>174000</c:v>
                </c:pt>
                <c:pt idx="46">
                  <c:v>112300</c:v>
                </c:pt>
                <c:pt idx="47">
                  <c:v>105200</c:v>
                </c:pt>
                <c:pt idx="48">
                  <c:v>41300</c:v>
                </c:pt>
                <c:pt idx="49">
                  <c:v>138000</c:v>
                </c:pt>
                <c:pt idx="50">
                  <c:v>73700</c:v>
                </c:pt>
                <c:pt idx="51">
                  <c:v>94300</c:v>
                </c:pt>
                <c:pt idx="52">
                  <c:v>32900</c:v>
                </c:pt>
                <c:pt idx="53">
                  <c:v>41000</c:v>
                </c:pt>
                <c:pt idx="54">
                  <c:v>21500</c:v>
                </c:pt>
                <c:pt idx="55">
                  <c:v>14700</c:v>
                </c:pt>
                <c:pt idx="56">
                  <c:v>31400</c:v>
                </c:pt>
                <c:pt idx="57">
                  <c:v>93900</c:v>
                </c:pt>
                <c:pt idx="58">
                  <c:v>96100</c:v>
                </c:pt>
                <c:pt idx="59">
                  <c:v>40700</c:v>
                </c:pt>
                <c:pt idx="60">
                  <c:v>43400</c:v>
                </c:pt>
                <c:pt idx="61">
                  <c:v>14800</c:v>
                </c:pt>
                <c:pt idx="62">
                  <c:v>160200</c:v>
                </c:pt>
                <c:pt idx="63">
                  <c:v>109700</c:v>
                </c:pt>
                <c:pt idx="64">
                  <c:v>98700</c:v>
                </c:pt>
                <c:pt idx="65">
                  <c:v>35900</c:v>
                </c:pt>
                <c:pt idx="66">
                  <c:v>142500</c:v>
                </c:pt>
                <c:pt idx="67">
                  <c:v>25800</c:v>
                </c:pt>
                <c:pt idx="68">
                  <c:v>120500</c:v>
                </c:pt>
                <c:pt idx="69">
                  <c:v>167300</c:v>
                </c:pt>
                <c:pt idx="70">
                  <c:v>15900</c:v>
                </c:pt>
                <c:pt idx="71">
                  <c:v>31500</c:v>
                </c:pt>
                <c:pt idx="72">
                  <c:v>34900</c:v>
                </c:pt>
                <c:pt idx="73">
                  <c:v>59300</c:v>
                </c:pt>
                <c:pt idx="74">
                  <c:v>32600</c:v>
                </c:pt>
                <c:pt idx="75">
                  <c:v>75300</c:v>
                </c:pt>
                <c:pt idx="76">
                  <c:v>69700</c:v>
                </c:pt>
                <c:pt idx="77">
                  <c:v>25600</c:v>
                </c:pt>
                <c:pt idx="78">
                  <c:v>44500</c:v>
                </c:pt>
                <c:pt idx="79">
                  <c:v>34100</c:v>
                </c:pt>
                <c:pt idx="80">
                  <c:v>110200</c:v>
                </c:pt>
                <c:pt idx="81">
                  <c:v>35300</c:v>
                </c:pt>
                <c:pt idx="82">
                  <c:v>156800</c:v>
                </c:pt>
                <c:pt idx="83">
                  <c:v>75700</c:v>
                </c:pt>
                <c:pt idx="84">
                  <c:v>8000</c:v>
                </c:pt>
                <c:pt idx="85">
                  <c:v>40900</c:v>
                </c:pt>
                <c:pt idx="86">
                  <c:v>103100</c:v>
                </c:pt>
                <c:pt idx="87">
                  <c:v>33000</c:v>
                </c:pt>
                <c:pt idx="88">
                  <c:v>76800</c:v>
                </c:pt>
                <c:pt idx="89">
                  <c:v>90800</c:v>
                </c:pt>
                <c:pt idx="90">
                  <c:v>35300</c:v>
                </c:pt>
                <c:pt idx="91">
                  <c:v>144400</c:v>
                </c:pt>
                <c:pt idx="92">
                  <c:v>29600</c:v>
                </c:pt>
                <c:pt idx="93">
                  <c:v>36200</c:v>
                </c:pt>
                <c:pt idx="94">
                  <c:v>134000</c:v>
                </c:pt>
                <c:pt idx="95">
                  <c:v>90100</c:v>
                </c:pt>
                <c:pt idx="96">
                  <c:v>45900</c:v>
                </c:pt>
                <c:pt idx="97">
                  <c:v>99500</c:v>
                </c:pt>
                <c:pt idx="98">
                  <c:v>158700</c:v>
                </c:pt>
                <c:pt idx="99">
                  <c:v>129500</c:v>
                </c:pt>
                <c:pt idx="100">
                  <c:v>32900</c:v>
                </c:pt>
                <c:pt idx="101">
                  <c:v>58000</c:v>
                </c:pt>
                <c:pt idx="102">
                  <c:v>137800</c:v>
                </c:pt>
                <c:pt idx="103">
                  <c:v>139200</c:v>
                </c:pt>
                <c:pt idx="104">
                  <c:v>164800</c:v>
                </c:pt>
                <c:pt idx="105">
                  <c:v>23200</c:v>
                </c:pt>
                <c:pt idx="106">
                  <c:v>179800</c:v>
                </c:pt>
                <c:pt idx="107">
                  <c:v>100300</c:v>
                </c:pt>
                <c:pt idx="108">
                  <c:v>156600</c:v>
                </c:pt>
                <c:pt idx="109">
                  <c:v>84900</c:v>
                </c:pt>
                <c:pt idx="110">
                  <c:v>39200</c:v>
                </c:pt>
                <c:pt idx="111">
                  <c:v>44500</c:v>
                </c:pt>
                <c:pt idx="112">
                  <c:v>121800</c:v>
                </c:pt>
                <c:pt idx="113">
                  <c:v>50300</c:v>
                </c:pt>
                <c:pt idx="114">
                  <c:v>120100</c:v>
                </c:pt>
                <c:pt idx="115">
                  <c:v>37900</c:v>
                </c:pt>
                <c:pt idx="116">
                  <c:v>130800</c:v>
                </c:pt>
                <c:pt idx="117">
                  <c:v>60700</c:v>
                </c:pt>
                <c:pt idx="118">
                  <c:v>158600</c:v>
                </c:pt>
                <c:pt idx="119">
                  <c:v>141200</c:v>
                </c:pt>
                <c:pt idx="120">
                  <c:v>81500</c:v>
                </c:pt>
                <c:pt idx="121">
                  <c:v>40000</c:v>
                </c:pt>
                <c:pt idx="122">
                  <c:v>8500</c:v>
                </c:pt>
                <c:pt idx="123">
                  <c:v>122100</c:v>
                </c:pt>
                <c:pt idx="124">
                  <c:v>96700</c:v>
                </c:pt>
                <c:pt idx="125">
                  <c:v>127100</c:v>
                </c:pt>
                <c:pt idx="126">
                  <c:v>121100</c:v>
                </c:pt>
                <c:pt idx="127">
                  <c:v>27800</c:v>
                </c:pt>
                <c:pt idx="128">
                  <c:v>170600</c:v>
                </c:pt>
                <c:pt idx="129">
                  <c:v>39500</c:v>
                </c:pt>
                <c:pt idx="130">
                  <c:v>34800</c:v>
                </c:pt>
                <c:pt idx="131">
                  <c:v>36400</c:v>
                </c:pt>
                <c:pt idx="132">
                  <c:v>119200</c:v>
                </c:pt>
                <c:pt idx="133">
                  <c:v>47600</c:v>
                </c:pt>
                <c:pt idx="134">
                  <c:v>110300</c:v>
                </c:pt>
                <c:pt idx="135">
                  <c:v>46300</c:v>
                </c:pt>
                <c:pt idx="136">
                  <c:v>142400</c:v>
                </c:pt>
                <c:pt idx="137">
                  <c:v>24600</c:v>
                </c:pt>
                <c:pt idx="138">
                  <c:v>18300</c:v>
                </c:pt>
                <c:pt idx="139">
                  <c:v>41100</c:v>
                </c:pt>
                <c:pt idx="140">
                  <c:v>41900</c:v>
                </c:pt>
                <c:pt idx="141">
                  <c:v>37000</c:v>
                </c:pt>
                <c:pt idx="142">
                  <c:v>172400</c:v>
                </c:pt>
                <c:pt idx="143">
                  <c:v>49100</c:v>
                </c:pt>
                <c:pt idx="144">
                  <c:v>31300</c:v>
                </c:pt>
                <c:pt idx="145">
                  <c:v>34300</c:v>
                </c:pt>
                <c:pt idx="146">
                  <c:v>185100</c:v>
                </c:pt>
                <c:pt idx="147">
                  <c:v>29100</c:v>
                </c:pt>
                <c:pt idx="148">
                  <c:v>31800</c:v>
                </c:pt>
                <c:pt idx="149">
                  <c:v>170000</c:v>
                </c:pt>
                <c:pt idx="150">
                  <c:v>45300</c:v>
                </c:pt>
                <c:pt idx="151">
                  <c:v>42800</c:v>
                </c:pt>
                <c:pt idx="152">
                  <c:v>152900</c:v>
                </c:pt>
                <c:pt idx="153">
                  <c:v>137700</c:v>
                </c:pt>
                <c:pt idx="154">
                  <c:v>98100</c:v>
                </c:pt>
                <c:pt idx="155">
                  <c:v>153500</c:v>
                </c:pt>
                <c:pt idx="156">
                  <c:v>37800</c:v>
                </c:pt>
                <c:pt idx="157">
                  <c:v>32800</c:v>
                </c:pt>
                <c:pt idx="158">
                  <c:v>35900</c:v>
                </c:pt>
                <c:pt idx="159">
                  <c:v>184000</c:v>
                </c:pt>
                <c:pt idx="160">
                  <c:v>15000</c:v>
                </c:pt>
                <c:pt idx="161">
                  <c:v>54400</c:v>
                </c:pt>
                <c:pt idx="162">
                  <c:v>32300</c:v>
                </c:pt>
                <c:pt idx="163">
                  <c:v>83800</c:v>
                </c:pt>
                <c:pt idx="164">
                  <c:v>36300</c:v>
                </c:pt>
                <c:pt idx="165">
                  <c:v>106200</c:v>
                </c:pt>
                <c:pt idx="166">
                  <c:v>149500</c:v>
                </c:pt>
                <c:pt idx="167">
                  <c:v>51900</c:v>
                </c:pt>
                <c:pt idx="168">
                  <c:v>16900</c:v>
                </c:pt>
                <c:pt idx="169">
                  <c:v>24900</c:v>
                </c:pt>
                <c:pt idx="170">
                  <c:v>78400</c:v>
                </c:pt>
                <c:pt idx="171">
                  <c:v>164000</c:v>
                </c:pt>
                <c:pt idx="172">
                  <c:v>75200</c:v>
                </c:pt>
                <c:pt idx="173">
                  <c:v>154600</c:v>
                </c:pt>
                <c:pt idx="174">
                  <c:v>182900</c:v>
                </c:pt>
                <c:pt idx="175">
                  <c:v>108600</c:v>
                </c:pt>
                <c:pt idx="176">
                  <c:v>129100</c:v>
                </c:pt>
                <c:pt idx="177">
                  <c:v>125700</c:v>
                </c:pt>
                <c:pt idx="178">
                  <c:v>48300</c:v>
                </c:pt>
                <c:pt idx="179">
                  <c:v>61900</c:v>
                </c:pt>
                <c:pt idx="180">
                  <c:v>41700</c:v>
                </c:pt>
                <c:pt idx="181">
                  <c:v>75700</c:v>
                </c:pt>
                <c:pt idx="182">
                  <c:v>38800</c:v>
                </c:pt>
                <c:pt idx="183">
                  <c:v>45200</c:v>
                </c:pt>
                <c:pt idx="184">
                  <c:v>142400</c:v>
                </c:pt>
                <c:pt idx="185">
                  <c:v>122700</c:v>
                </c:pt>
                <c:pt idx="186">
                  <c:v>27100</c:v>
                </c:pt>
                <c:pt idx="187">
                  <c:v>148400</c:v>
                </c:pt>
                <c:pt idx="188">
                  <c:v>135400</c:v>
                </c:pt>
                <c:pt idx="189">
                  <c:v>42300</c:v>
                </c:pt>
                <c:pt idx="190">
                  <c:v>44100</c:v>
                </c:pt>
                <c:pt idx="191">
                  <c:v>99300</c:v>
                </c:pt>
                <c:pt idx="192">
                  <c:v>30700</c:v>
                </c:pt>
                <c:pt idx="193">
                  <c:v>31900</c:v>
                </c:pt>
                <c:pt idx="194">
                  <c:v>88600</c:v>
                </c:pt>
                <c:pt idx="195">
                  <c:v>127700</c:v>
                </c:pt>
                <c:pt idx="196">
                  <c:v>36100</c:v>
                </c:pt>
                <c:pt idx="197">
                  <c:v>113500</c:v>
                </c:pt>
                <c:pt idx="198">
                  <c:v>30400</c:v>
                </c:pt>
                <c:pt idx="199">
                  <c:v>39000</c:v>
                </c:pt>
                <c:pt idx="200">
                  <c:v>172200</c:v>
                </c:pt>
                <c:pt idx="201">
                  <c:v>38800</c:v>
                </c:pt>
                <c:pt idx="202">
                  <c:v>150200</c:v>
                </c:pt>
                <c:pt idx="203">
                  <c:v>142500</c:v>
                </c:pt>
                <c:pt idx="204">
                  <c:v>114400</c:v>
                </c:pt>
                <c:pt idx="205">
                  <c:v>119600</c:v>
                </c:pt>
                <c:pt idx="206">
                  <c:v>120800</c:v>
                </c:pt>
              </c:numCache>
            </c:numRef>
          </c:yVal>
          <c:smooth val="0"/>
        </c:ser>
        <c:ser>
          <c:idx val="1"/>
          <c:order val="1"/>
          <c:tx>
            <c:strRef>
              <c:f>Sheet1!$B$210</c:f>
              <c:strCache>
                <c:ptCount val="1"/>
                <c:pt idx="0">
                  <c:v>Masters</c:v>
                </c:pt>
              </c:strCache>
            </c:strRef>
          </c:tx>
          <c:spPr>
            <a:ln w="47625">
              <a:noFill/>
            </a:ln>
          </c:spPr>
          <c:marker>
            <c:symbol val="circle"/>
            <c:size val="8"/>
            <c:spPr>
              <a:solidFill>
                <a:srgbClr val="6366F1"/>
              </a:solidFill>
              <a:ln>
                <a:solidFill>
                  <a:srgbClr val="FFFFFF"/>
                </a:solidFill>
              </a:ln>
            </c:spPr>
          </c:marker>
          <c:xVal>
            <c:numRef>
              <c:f>Sheet1!$A$211:$A$407</c:f>
              <c:numCache>
                <c:formatCode>General</c:formatCode>
                <c:ptCount val="197"/>
                <c:pt idx="0">
                  <c:v>13.0</c:v>
                </c:pt>
                <c:pt idx="1">
                  <c:v>16.9</c:v>
                </c:pt>
                <c:pt idx="2">
                  <c:v>5.9</c:v>
                </c:pt>
                <c:pt idx="3">
                  <c:v>19.7</c:v>
                </c:pt>
                <c:pt idx="4">
                  <c:v>7.6</c:v>
                </c:pt>
                <c:pt idx="5">
                  <c:v>4.2</c:v>
                </c:pt>
                <c:pt idx="6">
                  <c:v>2.9</c:v>
                </c:pt>
                <c:pt idx="7">
                  <c:v>7.2</c:v>
                </c:pt>
                <c:pt idx="8">
                  <c:v>6.0</c:v>
                </c:pt>
                <c:pt idx="9">
                  <c:v>18.4</c:v>
                </c:pt>
                <c:pt idx="10">
                  <c:v>4.8</c:v>
                </c:pt>
                <c:pt idx="11">
                  <c:v>15.3</c:v>
                </c:pt>
                <c:pt idx="12">
                  <c:v>18.6</c:v>
                </c:pt>
                <c:pt idx="13">
                  <c:v>2.4</c:v>
                </c:pt>
                <c:pt idx="14">
                  <c:v>9.7</c:v>
                </c:pt>
                <c:pt idx="15">
                  <c:v>5.6</c:v>
                </c:pt>
                <c:pt idx="16">
                  <c:v>19.4</c:v>
                </c:pt>
                <c:pt idx="17">
                  <c:v>11.9</c:v>
                </c:pt>
                <c:pt idx="18">
                  <c:v>14.3</c:v>
                </c:pt>
                <c:pt idx="19">
                  <c:v>19.7</c:v>
                </c:pt>
                <c:pt idx="20">
                  <c:v>2.2</c:v>
                </c:pt>
                <c:pt idx="21">
                  <c:v>8.1</c:v>
                </c:pt>
                <c:pt idx="22">
                  <c:v>9.4</c:v>
                </c:pt>
                <c:pt idx="23">
                  <c:v>6.3</c:v>
                </c:pt>
                <c:pt idx="24">
                  <c:v>0.0</c:v>
                </c:pt>
                <c:pt idx="25">
                  <c:v>6.1</c:v>
                </c:pt>
                <c:pt idx="26">
                  <c:v>10.2</c:v>
                </c:pt>
                <c:pt idx="27">
                  <c:v>19.0</c:v>
                </c:pt>
                <c:pt idx="28">
                  <c:v>17.8</c:v>
                </c:pt>
                <c:pt idx="29">
                  <c:v>6.7</c:v>
                </c:pt>
                <c:pt idx="30">
                  <c:v>15.4</c:v>
                </c:pt>
                <c:pt idx="31">
                  <c:v>3.1</c:v>
                </c:pt>
                <c:pt idx="32">
                  <c:v>5.6</c:v>
                </c:pt>
                <c:pt idx="33">
                  <c:v>8.1</c:v>
                </c:pt>
                <c:pt idx="34">
                  <c:v>4.9</c:v>
                </c:pt>
                <c:pt idx="35">
                  <c:v>10.7</c:v>
                </c:pt>
                <c:pt idx="36">
                  <c:v>8.3</c:v>
                </c:pt>
                <c:pt idx="37">
                  <c:v>5.3</c:v>
                </c:pt>
                <c:pt idx="38">
                  <c:v>5.6</c:v>
                </c:pt>
                <c:pt idx="39">
                  <c:v>12.2</c:v>
                </c:pt>
                <c:pt idx="40">
                  <c:v>6.0</c:v>
                </c:pt>
                <c:pt idx="41">
                  <c:v>2.5</c:v>
                </c:pt>
                <c:pt idx="42">
                  <c:v>8.2</c:v>
                </c:pt>
                <c:pt idx="43">
                  <c:v>6.6</c:v>
                </c:pt>
                <c:pt idx="44">
                  <c:v>8.2</c:v>
                </c:pt>
                <c:pt idx="45">
                  <c:v>11.7</c:v>
                </c:pt>
                <c:pt idx="46">
                  <c:v>5.8</c:v>
                </c:pt>
                <c:pt idx="47">
                  <c:v>13.6</c:v>
                </c:pt>
                <c:pt idx="48">
                  <c:v>2.3</c:v>
                </c:pt>
                <c:pt idx="49">
                  <c:v>8.4</c:v>
                </c:pt>
                <c:pt idx="50">
                  <c:v>4.1</c:v>
                </c:pt>
                <c:pt idx="51">
                  <c:v>19.8</c:v>
                </c:pt>
                <c:pt idx="52">
                  <c:v>14.5</c:v>
                </c:pt>
                <c:pt idx="53">
                  <c:v>14.0</c:v>
                </c:pt>
                <c:pt idx="54">
                  <c:v>1.2</c:v>
                </c:pt>
                <c:pt idx="55">
                  <c:v>11.2</c:v>
                </c:pt>
                <c:pt idx="56">
                  <c:v>14.4</c:v>
                </c:pt>
                <c:pt idx="57">
                  <c:v>1.1</c:v>
                </c:pt>
                <c:pt idx="58">
                  <c:v>14.9</c:v>
                </c:pt>
                <c:pt idx="59">
                  <c:v>17.6</c:v>
                </c:pt>
                <c:pt idx="60">
                  <c:v>10.5</c:v>
                </c:pt>
                <c:pt idx="61">
                  <c:v>13.1</c:v>
                </c:pt>
                <c:pt idx="62">
                  <c:v>2.6</c:v>
                </c:pt>
                <c:pt idx="63">
                  <c:v>15.4</c:v>
                </c:pt>
                <c:pt idx="64">
                  <c:v>13.9</c:v>
                </c:pt>
                <c:pt idx="65">
                  <c:v>16.0</c:v>
                </c:pt>
                <c:pt idx="66">
                  <c:v>1.8</c:v>
                </c:pt>
                <c:pt idx="67">
                  <c:v>10.0</c:v>
                </c:pt>
                <c:pt idx="68">
                  <c:v>7.1</c:v>
                </c:pt>
                <c:pt idx="69">
                  <c:v>15.7</c:v>
                </c:pt>
                <c:pt idx="70">
                  <c:v>4.0</c:v>
                </c:pt>
                <c:pt idx="71">
                  <c:v>0.7</c:v>
                </c:pt>
                <c:pt idx="72">
                  <c:v>10.3</c:v>
                </c:pt>
                <c:pt idx="73">
                  <c:v>0.5</c:v>
                </c:pt>
                <c:pt idx="74">
                  <c:v>8.9</c:v>
                </c:pt>
                <c:pt idx="75">
                  <c:v>17.0</c:v>
                </c:pt>
                <c:pt idx="76">
                  <c:v>0.5</c:v>
                </c:pt>
                <c:pt idx="77">
                  <c:v>6.9</c:v>
                </c:pt>
                <c:pt idx="78">
                  <c:v>6.1</c:v>
                </c:pt>
                <c:pt idx="79">
                  <c:v>13.0</c:v>
                </c:pt>
                <c:pt idx="80">
                  <c:v>4.1</c:v>
                </c:pt>
                <c:pt idx="81">
                  <c:v>6.3</c:v>
                </c:pt>
                <c:pt idx="82">
                  <c:v>10.1</c:v>
                </c:pt>
                <c:pt idx="83">
                  <c:v>1.5</c:v>
                </c:pt>
                <c:pt idx="84">
                  <c:v>12.3</c:v>
                </c:pt>
                <c:pt idx="85">
                  <c:v>9.6</c:v>
                </c:pt>
                <c:pt idx="86">
                  <c:v>7.5</c:v>
                </c:pt>
                <c:pt idx="87">
                  <c:v>15.4</c:v>
                </c:pt>
                <c:pt idx="88">
                  <c:v>4.0</c:v>
                </c:pt>
                <c:pt idx="89">
                  <c:v>1.0</c:v>
                </c:pt>
                <c:pt idx="90">
                  <c:v>19.8</c:v>
                </c:pt>
                <c:pt idx="91">
                  <c:v>15.1</c:v>
                </c:pt>
                <c:pt idx="92">
                  <c:v>6.0</c:v>
                </c:pt>
                <c:pt idx="93">
                  <c:v>3.2</c:v>
                </c:pt>
                <c:pt idx="94">
                  <c:v>13.3</c:v>
                </c:pt>
                <c:pt idx="95">
                  <c:v>8.8</c:v>
                </c:pt>
                <c:pt idx="96">
                  <c:v>17.5</c:v>
                </c:pt>
                <c:pt idx="97">
                  <c:v>17.8</c:v>
                </c:pt>
                <c:pt idx="98">
                  <c:v>6.0</c:v>
                </c:pt>
                <c:pt idx="99">
                  <c:v>17.6</c:v>
                </c:pt>
                <c:pt idx="100">
                  <c:v>7.6</c:v>
                </c:pt>
                <c:pt idx="101">
                  <c:v>4.8</c:v>
                </c:pt>
                <c:pt idx="102">
                  <c:v>1.8</c:v>
                </c:pt>
                <c:pt idx="103">
                  <c:v>16.1</c:v>
                </c:pt>
                <c:pt idx="104">
                  <c:v>0.3</c:v>
                </c:pt>
                <c:pt idx="105">
                  <c:v>4.6</c:v>
                </c:pt>
                <c:pt idx="106">
                  <c:v>16.9</c:v>
                </c:pt>
                <c:pt idx="107">
                  <c:v>13.3</c:v>
                </c:pt>
                <c:pt idx="108">
                  <c:v>14.4</c:v>
                </c:pt>
                <c:pt idx="109">
                  <c:v>0.2</c:v>
                </c:pt>
                <c:pt idx="110">
                  <c:v>5.6</c:v>
                </c:pt>
                <c:pt idx="111">
                  <c:v>7.6</c:v>
                </c:pt>
                <c:pt idx="112">
                  <c:v>5.4</c:v>
                </c:pt>
                <c:pt idx="113">
                  <c:v>1.8</c:v>
                </c:pt>
                <c:pt idx="114">
                  <c:v>7.2</c:v>
                </c:pt>
                <c:pt idx="115">
                  <c:v>19.5</c:v>
                </c:pt>
                <c:pt idx="116">
                  <c:v>9.2</c:v>
                </c:pt>
                <c:pt idx="117">
                  <c:v>4.8</c:v>
                </c:pt>
                <c:pt idx="118">
                  <c:v>13.8</c:v>
                </c:pt>
                <c:pt idx="119">
                  <c:v>18.6</c:v>
                </c:pt>
                <c:pt idx="120">
                  <c:v>16.0</c:v>
                </c:pt>
                <c:pt idx="121">
                  <c:v>16.0</c:v>
                </c:pt>
                <c:pt idx="122">
                  <c:v>3.7</c:v>
                </c:pt>
                <c:pt idx="123">
                  <c:v>12.7</c:v>
                </c:pt>
                <c:pt idx="124">
                  <c:v>16.2</c:v>
                </c:pt>
                <c:pt idx="125">
                  <c:v>5.9</c:v>
                </c:pt>
                <c:pt idx="126">
                  <c:v>13.1</c:v>
                </c:pt>
                <c:pt idx="127">
                  <c:v>7.4</c:v>
                </c:pt>
                <c:pt idx="128">
                  <c:v>6.3</c:v>
                </c:pt>
                <c:pt idx="129">
                  <c:v>12.9</c:v>
                </c:pt>
                <c:pt idx="130">
                  <c:v>19.1</c:v>
                </c:pt>
                <c:pt idx="131">
                  <c:v>2.1</c:v>
                </c:pt>
                <c:pt idx="132">
                  <c:v>13.1</c:v>
                </c:pt>
                <c:pt idx="133">
                  <c:v>7.5</c:v>
                </c:pt>
                <c:pt idx="134">
                  <c:v>15.7</c:v>
                </c:pt>
                <c:pt idx="135">
                  <c:v>18.0</c:v>
                </c:pt>
                <c:pt idx="136">
                  <c:v>19.2</c:v>
                </c:pt>
                <c:pt idx="137">
                  <c:v>11.7</c:v>
                </c:pt>
                <c:pt idx="138">
                  <c:v>9.2</c:v>
                </c:pt>
                <c:pt idx="139">
                  <c:v>12.9</c:v>
                </c:pt>
                <c:pt idx="140">
                  <c:v>10.5</c:v>
                </c:pt>
                <c:pt idx="141">
                  <c:v>14.6</c:v>
                </c:pt>
                <c:pt idx="142">
                  <c:v>4.4</c:v>
                </c:pt>
                <c:pt idx="143">
                  <c:v>13.7</c:v>
                </c:pt>
                <c:pt idx="144">
                  <c:v>7.9</c:v>
                </c:pt>
                <c:pt idx="145">
                  <c:v>11.8</c:v>
                </c:pt>
                <c:pt idx="146">
                  <c:v>16.0</c:v>
                </c:pt>
                <c:pt idx="147">
                  <c:v>9.5</c:v>
                </c:pt>
                <c:pt idx="148">
                  <c:v>13.0</c:v>
                </c:pt>
                <c:pt idx="149">
                  <c:v>4.5</c:v>
                </c:pt>
                <c:pt idx="150">
                  <c:v>9.3</c:v>
                </c:pt>
                <c:pt idx="151">
                  <c:v>16.8</c:v>
                </c:pt>
                <c:pt idx="152">
                  <c:v>16.1</c:v>
                </c:pt>
                <c:pt idx="153">
                  <c:v>4.4</c:v>
                </c:pt>
                <c:pt idx="154">
                  <c:v>11.6</c:v>
                </c:pt>
                <c:pt idx="155">
                  <c:v>8.3</c:v>
                </c:pt>
                <c:pt idx="156">
                  <c:v>6.3</c:v>
                </c:pt>
                <c:pt idx="157">
                  <c:v>5.5</c:v>
                </c:pt>
                <c:pt idx="158">
                  <c:v>6.4</c:v>
                </c:pt>
                <c:pt idx="159">
                  <c:v>9.1</c:v>
                </c:pt>
                <c:pt idx="160">
                  <c:v>9.8</c:v>
                </c:pt>
                <c:pt idx="161">
                  <c:v>0.4</c:v>
                </c:pt>
                <c:pt idx="162">
                  <c:v>5.1</c:v>
                </c:pt>
                <c:pt idx="163">
                  <c:v>13.4</c:v>
                </c:pt>
                <c:pt idx="164">
                  <c:v>3.3</c:v>
                </c:pt>
                <c:pt idx="165">
                  <c:v>13.6</c:v>
                </c:pt>
                <c:pt idx="166">
                  <c:v>19.5</c:v>
                </c:pt>
                <c:pt idx="167">
                  <c:v>6.3</c:v>
                </c:pt>
                <c:pt idx="168">
                  <c:v>1.9</c:v>
                </c:pt>
                <c:pt idx="169">
                  <c:v>12.9</c:v>
                </c:pt>
                <c:pt idx="170">
                  <c:v>9.2</c:v>
                </c:pt>
                <c:pt idx="171">
                  <c:v>12.8</c:v>
                </c:pt>
                <c:pt idx="172">
                  <c:v>9.1</c:v>
                </c:pt>
                <c:pt idx="173">
                  <c:v>15.2</c:v>
                </c:pt>
                <c:pt idx="174">
                  <c:v>12.2</c:v>
                </c:pt>
                <c:pt idx="175">
                  <c:v>0.9</c:v>
                </c:pt>
                <c:pt idx="176">
                  <c:v>11.6</c:v>
                </c:pt>
                <c:pt idx="177">
                  <c:v>18.3</c:v>
                </c:pt>
                <c:pt idx="178">
                  <c:v>14.0</c:v>
                </c:pt>
                <c:pt idx="179">
                  <c:v>8.3</c:v>
                </c:pt>
                <c:pt idx="180">
                  <c:v>17.4</c:v>
                </c:pt>
                <c:pt idx="181">
                  <c:v>5.9</c:v>
                </c:pt>
                <c:pt idx="182">
                  <c:v>3.1</c:v>
                </c:pt>
                <c:pt idx="183">
                  <c:v>15.8</c:v>
                </c:pt>
                <c:pt idx="184">
                  <c:v>7.5</c:v>
                </c:pt>
                <c:pt idx="185">
                  <c:v>3.3</c:v>
                </c:pt>
                <c:pt idx="186">
                  <c:v>0.1</c:v>
                </c:pt>
                <c:pt idx="187">
                  <c:v>9.5</c:v>
                </c:pt>
                <c:pt idx="188">
                  <c:v>3.2</c:v>
                </c:pt>
                <c:pt idx="189">
                  <c:v>17.0</c:v>
                </c:pt>
                <c:pt idx="190">
                  <c:v>5.6</c:v>
                </c:pt>
                <c:pt idx="191">
                  <c:v>10.9</c:v>
                </c:pt>
                <c:pt idx="192">
                  <c:v>19.3</c:v>
                </c:pt>
                <c:pt idx="193">
                  <c:v>13.2</c:v>
                </c:pt>
                <c:pt idx="194">
                  <c:v>0.9</c:v>
                </c:pt>
                <c:pt idx="195">
                  <c:v>6.5</c:v>
                </c:pt>
                <c:pt idx="196">
                  <c:v>12.9</c:v>
                </c:pt>
              </c:numCache>
            </c:numRef>
          </c:xVal>
          <c:yVal>
            <c:numRef>
              <c:f>Sheet1!$B$211:$B$407</c:f>
              <c:numCache>
                <c:formatCode>General</c:formatCode>
                <c:ptCount val="197"/>
                <c:pt idx="0">
                  <c:v>143200</c:v>
                </c:pt>
                <c:pt idx="1">
                  <c:v>170200</c:v>
                </c:pt>
                <c:pt idx="2">
                  <c:v>111900</c:v>
                </c:pt>
                <c:pt idx="3">
                  <c:v>175600</c:v>
                </c:pt>
                <c:pt idx="4">
                  <c:v>33600</c:v>
                </c:pt>
                <c:pt idx="5">
                  <c:v>109900</c:v>
                </c:pt>
                <c:pt idx="6">
                  <c:v>30800</c:v>
                </c:pt>
                <c:pt idx="7">
                  <c:v>109500</c:v>
                </c:pt>
                <c:pt idx="8">
                  <c:v>15100</c:v>
                </c:pt>
                <c:pt idx="9">
                  <c:v>58300</c:v>
                </c:pt>
                <c:pt idx="10">
                  <c:v>108100</c:v>
                </c:pt>
                <c:pt idx="11">
                  <c:v>56500</c:v>
                </c:pt>
                <c:pt idx="12">
                  <c:v>172000</c:v>
                </c:pt>
                <c:pt idx="13">
                  <c:v>72300</c:v>
                </c:pt>
                <c:pt idx="14">
                  <c:v>47500</c:v>
                </c:pt>
                <c:pt idx="15">
                  <c:v>36500</c:v>
                </c:pt>
                <c:pt idx="16">
                  <c:v>182900</c:v>
                </c:pt>
                <c:pt idx="17">
                  <c:v>113600</c:v>
                </c:pt>
                <c:pt idx="18">
                  <c:v>45100</c:v>
                </c:pt>
                <c:pt idx="19">
                  <c:v>177000</c:v>
                </c:pt>
                <c:pt idx="20">
                  <c:v>88900</c:v>
                </c:pt>
                <c:pt idx="21">
                  <c:v>97700</c:v>
                </c:pt>
                <c:pt idx="22">
                  <c:v>89700</c:v>
                </c:pt>
                <c:pt idx="23">
                  <c:v>124800</c:v>
                </c:pt>
                <c:pt idx="24">
                  <c:v>106700</c:v>
                </c:pt>
                <c:pt idx="25">
                  <c:v>103400</c:v>
                </c:pt>
                <c:pt idx="26">
                  <c:v>154300</c:v>
                </c:pt>
                <c:pt idx="27">
                  <c:v>165700</c:v>
                </c:pt>
                <c:pt idx="28">
                  <c:v>187100</c:v>
                </c:pt>
                <c:pt idx="29">
                  <c:v>32700</c:v>
                </c:pt>
                <c:pt idx="30">
                  <c:v>47400</c:v>
                </c:pt>
                <c:pt idx="31">
                  <c:v>107700</c:v>
                </c:pt>
                <c:pt idx="32">
                  <c:v>34200</c:v>
                </c:pt>
                <c:pt idx="33">
                  <c:v>138400</c:v>
                </c:pt>
                <c:pt idx="34">
                  <c:v>132000</c:v>
                </c:pt>
                <c:pt idx="35">
                  <c:v>45000</c:v>
                </c:pt>
                <c:pt idx="36">
                  <c:v>141400</c:v>
                </c:pt>
                <c:pt idx="37">
                  <c:v>109900</c:v>
                </c:pt>
                <c:pt idx="38">
                  <c:v>143100</c:v>
                </c:pt>
                <c:pt idx="39">
                  <c:v>55300</c:v>
                </c:pt>
                <c:pt idx="40">
                  <c:v>144400</c:v>
                </c:pt>
                <c:pt idx="41">
                  <c:v>24300</c:v>
                </c:pt>
                <c:pt idx="42">
                  <c:v>41100</c:v>
                </c:pt>
                <c:pt idx="43">
                  <c:v>74200</c:v>
                </c:pt>
                <c:pt idx="44">
                  <c:v>114600</c:v>
                </c:pt>
                <c:pt idx="45">
                  <c:v>52300</c:v>
                </c:pt>
                <c:pt idx="46">
                  <c:v>41400</c:v>
                </c:pt>
                <c:pt idx="47">
                  <c:v>47200</c:v>
                </c:pt>
                <c:pt idx="48">
                  <c:v>111300</c:v>
                </c:pt>
                <c:pt idx="49">
                  <c:v>125500</c:v>
                </c:pt>
                <c:pt idx="50">
                  <c:v>104300</c:v>
                </c:pt>
                <c:pt idx="51">
                  <c:v>176100</c:v>
                </c:pt>
                <c:pt idx="52">
                  <c:v>44500</c:v>
                </c:pt>
                <c:pt idx="53">
                  <c:v>156100</c:v>
                </c:pt>
                <c:pt idx="54">
                  <c:v>123300</c:v>
                </c:pt>
                <c:pt idx="55">
                  <c:v>131300</c:v>
                </c:pt>
                <c:pt idx="56">
                  <c:v>45400</c:v>
                </c:pt>
                <c:pt idx="57">
                  <c:v>74300</c:v>
                </c:pt>
                <c:pt idx="58">
                  <c:v>133600</c:v>
                </c:pt>
                <c:pt idx="59">
                  <c:v>202700</c:v>
                </c:pt>
                <c:pt idx="60">
                  <c:v>136300</c:v>
                </c:pt>
                <c:pt idx="61">
                  <c:v>121900</c:v>
                </c:pt>
                <c:pt idx="62">
                  <c:v>22600</c:v>
                </c:pt>
                <c:pt idx="63">
                  <c:v>44900</c:v>
                </c:pt>
                <c:pt idx="64">
                  <c:v>149400</c:v>
                </c:pt>
                <c:pt idx="65">
                  <c:v>100900</c:v>
                </c:pt>
                <c:pt idx="66">
                  <c:v>101500</c:v>
                </c:pt>
                <c:pt idx="67">
                  <c:v>41100</c:v>
                </c:pt>
                <c:pt idx="68">
                  <c:v>128400</c:v>
                </c:pt>
                <c:pt idx="69">
                  <c:v>120300</c:v>
                </c:pt>
                <c:pt idx="70">
                  <c:v>95400</c:v>
                </c:pt>
                <c:pt idx="71">
                  <c:v>53000</c:v>
                </c:pt>
                <c:pt idx="72">
                  <c:v>102700</c:v>
                </c:pt>
                <c:pt idx="73">
                  <c:v>99500</c:v>
                </c:pt>
                <c:pt idx="74">
                  <c:v>41100</c:v>
                </c:pt>
                <c:pt idx="75">
                  <c:v>47400</c:v>
                </c:pt>
                <c:pt idx="76">
                  <c:v>88800</c:v>
                </c:pt>
                <c:pt idx="77">
                  <c:v>32300</c:v>
                </c:pt>
                <c:pt idx="78">
                  <c:v>32900</c:v>
                </c:pt>
                <c:pt idx="79">
                  <c:v>159500</c:v>
                </c:pt>
                <c:pt idx="80">
                  <c:v>81300</c:v>
                </c:pt>
                <c:pt idx="81">
                  <c:v>139700</c:v>
                </c:pt>
                <c:pt idx="82">
                  <c:v>38300</c:v>
                </c:pt>
                <c:pt idx="83">
                  <c:v>60100</c:v>
                </c:pt>
                <c:pt idx="84">
                  <c:v>149700</c:v>
                </c:pt>
                <c:pt idx="85">
                  <c:v>43100</c:v>
                </c:pt>
                <c:pt idx="86">
                  <c:v>150600</c:v>
                </c:pt>
                <c:pt idx="87">
                  <c:v>187100</c:v>
                </c:pt>
                <c:pt idx="88">
                  <c:v>30300</c:v>
                </c:pt>
                <c:pt idx="89">
                  <c:v>24600</c:v>
                </c:pt>
                <c:pt idx="90">
                  <c:v>121000</c:v>
                </c:pt>
                <c:pt idx="91">
                  <c:v>63600</c:v>
                </c:pt>
                <c:pt idx="92">
                  <c:v>84600</c:v>
                </c:pt>
                <c:pt idx="93">
                  <c:v>100000</c:v>
                </c:pt>
                <c:pt idx="94">
                  <c:v>150200</c:v>
                </c:pt>
                <c:pt idx="95">
                  <c:v>43100</c:v>
                </c:pt>
                <c:pt idx="96">
                  <c:v>15900</c:v>
                </c:pt>
                <c:pt idx="97">
                  <c:v>167500</c:v>
                </c:pt>
                <c:pt idx="98">
                  <c:v>134500</c:v>
                </c:pt>
                <c:pt idx="99">
                  <c:v>195600</c:v>
                </c:pt>
                <c:pt idx="100">
                  <c:v>14500</c:v>
                </c:pt>
                <c:pt idx="101">
                  <c:v>114400</c:v>
                </c:pt>
                <c:pt idx="102">
                  <c:v>73700</c:v>
                </c:pt>
                <c:pt idx="103">
                  <c:v>184500</c:v>
                </c:pt>
                <c:pt idx="104">
                  <c:v>86100</c:v>
                </c:pt>
                <c:pt idx="105">
                  <c:v>92200</c:v>
                </c:pt>
                <c:pt idx="106">
                  <c:v>48900</c:v>
                </c:pt>
                <c:pt idx="107">
                  <c:v>12100</c:v>
                </c:pt>
                <c:pt idx="108">
                  <c:v>112300</c:v>
                </c:pt>
                <c:pt idx="109">
                  <c:v>25600</c:v>
                </c:pt>
                <c:pt idx="110">
                  <c:v>149400</c:v>
                </c:pt>
                <c:pt idx="111">
                  <c:v>14000</c:v>
                </c:pt>
                <c:pt idx="112">
                  <c:v>102900</c:v>
                </c:pt>
                <c:pt idx="113">
                  <c:v>68000</c:v>
                </c:pt>
                <c:pt idx="114">
                  <c:v>114200</c:v>
                </c:pt>
                <c:pt idx="115">
                  <c:v>52300</c:v>
                </c:pt>
                <c:pt idx="116">
                  <c:v>94900</c:v>
                </c:pt>
                <c:pt idx="117">
                  <c:v>36200</c:v>
                </c:pt>
                <c:pt idx="118">
                  <c:v>163900</c:v>
                </c:pt>
                <c:pt idx="119">
                  <c:v>64200</c:v>
                </c:pt>
                <c:pt idx="120">
                  <c:v>43200</c:v>
                </c:pt>
                <c:pt idx="121">
                  <c:v>47000</c:v>
                </c:pt>
                <c:pt idx="122">
                  <c:v>96500</c:v>
                </c:pt>
                <c:pt idx="123">
                  <c:v>48500</c:v>
                </c:pt>
                <c:pt idx="124">
                  <c:v>150700</c:v>
                </c:pt>
                <c:pt idx="125">
                  <c:v>40700</c:v>
                </c:pt>
                <c:pt idx="126">
                  <c:v>95300</c:v>
                </c:pt>
                <c:pt idx="127">
                  <c:v>94300</c:v>
                </c:pt>
                <c:pt idx="128">
                  <c:v>34200</c:v>
                </c:pt>
                <c:pt idx="129">
                  <c:v>41800</c:v>
                </c:pt>
                <c:pt idx="130">
                  <c:v>57500</c:v>
                </c:pt>
                <c:pt idx="131">
                  <c:v>99200</c:v>
                </c:pt>
                <c:pt idx="132">
                  <c:v>173200</c:v>
                </c:pt>
                <c:pt idx="133">
                  <c:v>43500</c:v>
                </c:pt>
                <c:pt idx="134">
                  <c:v>140200</c:v>
                </c:pt>
                <c:pt idx="135">
                  <c:v>53700</c:v>
                </c:pt>
                <c:pt idx="136">
                  <c:v>57300</c:v>
                </c:pt>
                <c:pt idx="137">
                  <c:v>137600</c:v>
                </c:pt>
                <c:pt idx="138">
                  <c:v>80400</c:v>
                </c:pt>
                <c:pt idx="139">
                  <c:v>50100</c:v>
                </c:pt>
                <c:pt idx="140">
                  <c:v>125600</c:v>
                </c:pt>
                <c:pt idx="141">
                  <c:v>55700</c:v>
                </c:pt>
                <c:pt idx="142">
                  <c:v>26900</c:v>
                </c:pt>
                <c:pt idx="143">
                  <c:v>49600</c:v>
                </c:pt>
                <c:pt idx="144">
                  <c:v>36400</c:v>
                </c:pt>
                <c:pt idx="145">
                  <c:v>138500</c:v>
                </c:pt>
                <c:pt idx="146">
                  <c:v>52200</c:v>
                </c:pt>
                <c:pt idx="147">
                  <c:v>87500</c:v>
                </c:pt>
                <c:pt idx="148">
                  <c:v>140500</c:v>
                </c:pt>
                <c:pt idx="149">
                  <c:v>108800</c:v>
                </c:pt>
                <c:pt idx="150">
                  <c:v>43000</c:v>
                </c:pt>
                <c:pt idx="151">
                  <c:v>52700</c:v>
                </c:pt>
                <c:pt idx="152">
                  <c:v>149800</c:v>
                </c:pt>
                <c:pt idx="153">
                  <c:v>143200</c:v>
                </c:pt>
                <c:pt idx="154">
                  <c:v>134400</c:v>
                </c:pt>
                <c:pt idx="155">
                  <c:v>125300</c:v>
                </c:pt>
                <c:pt idx="156">
                  <c:v>108100</c:v>
                </c:pt>
                <c:pt idx="157">
                  <c:v>106800</c:v>
                </c:pt>
                <c:pt idx="158">
                  <c:v>118400</c:v>
                </c:pt>
                <c:pt idx="159">
                  <c:v>145800</c:v>
                </c:pt>
                <c:pt idx="160">
                  <c:v>40500</c:v>
                </c:pt>
                <c:pt idx="161">
                  <c:v>82000</c:v>
                </c:pt>
                <c:pt idx="162">
                  <c:v>15200</c:v>
                </c:pt>
                <c:pt idx="163">
                  <c:v>120100</c:v>
                </c:pt>
                <c:pt idx="164">
                  <c:v>34100</c:v>
                </c:pt>
                <c:pt idx="165">
                  <c:v>146600</c:v>
                </c:pt>
                <c:pt idx="166">
                  <c:v>207100</c:v>
                </c:pt>
                <c:pt idx="167">
                  <c:v>40300</c:v>
                </c:pt>
                <c:pt idx="168">
                  <c:v>30300</c:v>
                </c:pt>
                <c:pt idx="169">
                  <c:v>101300</c:v>
                </c:pt>
                <c:pt idx="170">
                  <c:v>140400</c:v>
                </c:pt>
                <c:pt idx="171">
                  <c:v>48400</c:v>
                </c:pt>
                <c:pt idx="172">
                  <c:v>123700</c:v>
                </c:pt>
                <c:pt idx="173">
                  <c:v>92700</c:v>
                </c:pt>
                <c:pt idx="174">
                  <c:v>136800</c:v>
                </c:pt>
                <c:pt idx="175">
                  <c:v>66300</c:v>
                </c:pt>
                <c:pt idx="176">
                  <c:v>128000</c:v>
                </c:pt>
                <c:pt idx="177">
                  <c:v>47300</c:v>
                </c:pt>
                <c:pt idx="178">
                  <c:v>134200</c:v>
                </c:pt>
                <c:pt idx="179">
                  <c:v>141700</c:v>
                </c:pt>
                <c:pt idx="180">
                  <c:v>193200</c:v>
                </c:pt>
                <c:pt idx="181">
                  <c:v>36600</c:v>
                </c:pt>
                <c:pt idx="182">
                  <c:v>108800</c:v>
                </c:pt>
                <c:pt idx="183">
                  <c:v>170000</c:v>
                </c:pt>
                <c:pt idx="184">
                  <c:v>37100</c:v>
                </c:pt>
                <c:pt idx="185">
                  <c:v>29900</c:v>
                </c:pt>
                <c:pt idx="186">
                  <c:v>78100</c:v>
                </c:pt>
                <c:pt idx="187">
                  <c:v>112300</c:v>
                </c:pt>
                <c:pt idx="188">
                  <c:v>40200</c:v>
                </c:pt>
                <c:pt idx="189">
                  <c:v>47500</c:v>
                </c:pt>
                <c:pt idx="190">
                  <c:v>103100</c:v>
                </c:pt>
                <c:pt idx="191">
                  <c:v>151200</c:v>
                </c:pt>
                <c:pt idx="192">
                  <c:v>57400</c:v>
                </c:pt>
                <c:pt idx="193">
                  <c:v>43800</c:v>
                </c:pt>
                <c:pt idx="194">
                  <c:v>97100</c:v>
                </c:pt>
                <c:pt idx="195">
                  <c:v>38900</c:v>
                </c:pt>
                <c:pt idx="196">
                  <c:v>42200</c:v>
                </c:pt>
              </c:numCache>
            </c:numRef>
          </c:yVal>
          <c:smooth val="0"/>
        </c:ser>
        <c:ser>
          <c:idx val="2"/>
          <c:order val="2"/>
          <c:tx>
            <c:strRef>
              <c:f>Sheet1!$B$409</c:f>
              <c:strCache>
                <c:ptCount val="1"/>
                <c:pt idx="0">
                  <c:v>PhD</c:v>
                </c:pt>
              </c:strCache>
            </c:strRef>
          </c:tx>
          <c:spPr>
            <a:ln w="47625">
              <a:noFill/>
            </a:ln>
          </c:spPr>
          <c:marker>
            <c:symbol val="circle"/>
            <c:size val="8"/>
            <c:spPr>
              <a:solidFill>
                <a:srgbClr val="A78BFA"/>
              </a:solidFill>
              <a:ln>
                <a:solidFill>
                  <a:srgbClr val="FFFFFF"/>
                </a:solidFill>
              </a:ln>
            </c:spPr>
          </c:marker>
          <c:xVal>
            <c:numRef>
              <c:f>Sheet1!$A$410:$A$505</c:f>
              <c:numCache>
                <c:formatCode>General</c:formatCode>
                <c:ptCount val="96"/>
                <c:pt idx="0">
                  <c:v>2.2</c:v>
                </c:pt>
                <c:pt idx="1">
                  <c:v>4.2</c:v>
                </c:pt>
                <c:pt idx="2">
                  <c:v>12.7</c:v>
                </c:pt>
                <c:pt idx="3">
                  <c:v>0.9</c:v>
                </c:pt>
                <c:pt idx="4">
                  <c:v>2.3</c:v>
                </c:pt>
                <c:pt idx="5">
                  <c:v>15.0</c:v>
                </c:pt>
                <c:pt idx="6">
                  <c:v>8.3</c:v>
                </c:pt>
                <c:pt idx="7">
                  <c:v>0.6</c:v>
                </c:pt>
                <c:pt idx="8">
                  <c:v>14.6</c:v>
                </c:pt>
                <c:pt idx="9">
                  <c:v>13.4</c:v>
                </c:pt>
                <c:pt idx="10">
                  <c:v>19.8</c:v>
                </c:pt>
                <c:pt idx="11">
                  <c:v>11.9</c:v>
                </c:pt>
                <c:pt idx="12">
                  <c:v>4.7</c:v>
                </c:pt>
                <c:pt idx="13">
                  <c:v>17.2</c:v>
                </c:pt>
                <c:pt idx="14">
                  <c:v>1.8</c:v>
                </c:pt>
                <c:pt idx="15">
                  <c:v>1.0</c:v>
                </c:pt>
                <c:pt idx="16">
                  <c:v>13.7</c:v>
                </c:pt>
                <c:pt idx="17">
                  <c:v>5.0</c:v>
                </c:pt>
                <c:pt idx="18">
                  <c:v>19.9</c:v>
                </c:pt>
                <c:pt idx="19">
                  <c:v>1.8</c:v>
                </c:pt>
                <c:pt idx="20">
                  <c:v>10.6</c:v>
                </c:pt>
                <c:pt idx="21">
                  <c:v>9.3</c:v>
                </c:pt>
                <c:pt idx="22">
                  <c:v>4.8</c:v>
                </c:pt>
                <c:pt idx="23">
                  <c:v>11.7</c:v>
                </c:pt>
                <c:pt idx="24">
                  <c:v>5.5</c:v>
                </c:pt>
                <c:pt idx="25">
                  <c:v>8.6</c:v>
                </c:pt>
                <c:pt idx="26">
                  <c:v>16.6</c:v>
                </c:pt>
                <c:pt idx="27">
                  <c:v>17.4</c:v>
                </c:pt>
                <c:pt idx="28">
                  <c:v>18.1</c:v>
                </c:pt>
                <c:pt idx="29">
                  <c:v>2.1</c:v>
                </c:pt>
                <c:pt idx="30">
                  <c:v>12.0</c:v>
                </c:pt>
                <c:pt idx="31">
                  <c:v>19.9</c:v>
                </c:pt>
                <c:pt idx="32">
                  <c:v>1.6</c:v>
                </c:pt>
                <c:pt idx="33">
                  <c:v>14.7</c:v>
                </c:pt>
                <c:pt idx="34">
                  <c:v>6.6</c:v>
                </c:pt>
                <c:pt idx="35">
                  <c:v>0.8</c:v>
                </c:pt>
                <c:pt idx="36">
                  <c:v>12.9</c:v>
                </c:pt>
                <c:pt idx="37">
                  <c:v>18.0</c:v>
                </c:pt>
                <c:pt idx="38">
                  <c:v>7.9</c:v>
                </c:pt>
                <c:pt idx="39">
                  <c:v>0.8</c:v>
                </c:pt>
                <c:pt idx="40">
                  <c:v>14.2</c:v>
                </c:pt>
                <c:pt idx="41">
                  <c:v>12.9</c:v>
                </c:pt>
                <c:pt idx="42">
                  <c:v>6.9</c:v>
                </c:pt>
                <c:pt idx="43">
                  <c:v>10.1</c:v>
                </c:pt>
                <c:pt idx="44">
                  <c:v>11.0</c:v>
                </c:pt>
                <c:pt idx="45">
                  <c:v>17.9</c:v>
                </c:pt>
                <c:pt idx="46">
                  <c:v>19.0</c:v>
                </c:pt>
                <c:pt idx="47">
                  <c:v>19.4</c:v>
                </c:pt>
                <c:pt idx="48">
                  <c:v>15.4</c:v>
                </c:pt>
                <c:pt idx="49">
                  <c:v>7.0</c:v>
                </c:pt>
                <c:pt idx="50">
                  <c:v>10.6</c:v>
                </c:pt>
                <c:pt idx="51">
                  <c:v>12.3</c:v>
                </c:pt>
                <c:pt idx="52">
                  <c:v>1.1</c:v>
                </c:pt>
                <c:pt idx="53">
                  <c:v>5.8</c:v>
                </c:pt>
                <c:pt idx="54">
                  <c:v>2.8</c:v>
                </c:pt>
                <c:pt idx="55">
                  <c:v>8.1</c:v>
                </c:pt>
                <c:pt idx="56">
                  <c:v>4.2</c:v>
                </c:pt>
                <c:pt idx="57">
                  <c:v>0.2</c:v>
                </c:pt>
                <c:pt idx="58">
                  <c:v>2.0</c:v>
                </c:pt>
                <c:pt idx="59">
                  <c:v>19.6</c:v>
                </c:pt>
                <c:pt idx="60">
                  <c:v>8.0</c:v>
                </c:pt>
                <c:pt idx="61">
                  <c:v>12.3</c:v>
                </c:pt>
                <c:pt idx="62">
                  <c:v>17.5</c:v>
                </c:pt>
                <c:pt idx="63">
                  <c:v>17.5</c:v>
                </c:pt>
                <c:pt idx="64">
                  <c:v>14.0</c:v>
                </c:pt>
                <c:pt idx="65">
                  <c:v>4.2</c:v>
                </c:pt>
                <c:pt idx="66">
                  <c:v>1.0</c:v>
                </c:pt>
                <c:pt idx="67">
                  <c:v>14.8</c:v>
                </c:pt>
                <c:pt idx="68">
                  <c:v>16.9</c:v>
                </c:pt>
                <c:pt idx="69">
                  <c:v>10.5</c:v>
                </c:pt>
                <c:pt idx="70">
                  <c:v>12.3</c:v>
                </c:pt>
                <c:pt idx="71">
                  <c:v>16.9</c:v>
                </c:pt>
                <c:pt idx="72">
                  <c:v>4.6</c:v>
                </c:pt>
                <c:pt idx="73">
                  <c:v>19.8</c:v>
                </c:pt>
                <c:pt idx="74">
                  <c:v>11.2</c:v>
                </c:pt>
                <c:pt idx="75">
                  <c:v>3.7</c:v>
                </c:pt>
                <c:pt idx="76">
                  <c:v>17.7</c:v>
                </c:pt>
                <c:pt idx="77">
                  <c:v>4.0</c:v>
                </c:pt>
                <c:pt idx="78">
                  <c:v>9.1</c:v>
                </c:pt>
                <c:pt idx="79">
                  <c:v>16.0</c:v>
                </c:pt>
                <c:pt idx="80">
                  <c:v>3.4</c:v>
                </c:pt>
                <c:pt idx="81">
                  <c:v>6.6</c:v>
                </c:pt>
                <c:pt idx="82">
                  <c:v>4.2</c:v>
                </c:pt>
                <c:pt idx="83">
                  <c:v>13.9</c:v>
                </c:pt>
                <c:pt idx="84">
                  <c:v>1.1</c:v>
                </c:pt>
                <c:pt idx="85">
                  <c:v>10.8</c:v>
                </c:pt>
                <c:pt idx="86">
                  <c:v>19.1</c:v>
                </c:pt>
                <c:pt idx="87">
                  <c:v>5.6</c:v>
                </c:pt>
                <c:pt idx="88">
                  <c:v>6.6</c:v>
                </c:pt>
                <c:pt idx="89">
                  <c:v>2.3</c:v>
                </c:pt>
                <c:pt idx="90">
                  <c:v>15.7</c:v>
                </c:pt>
                <c:pt idx="91">
                  <c:v>13.5</c:v>
                </c:pt>
                <c:pt idx="92">
                  <c:v>11.6</c:v>
                </c:pt>
                <c:pt idx="93">
                  <c:v>9.7</c:v>
                </c:pt>
                <c:pt idx="94">
                  <c:v>3.4</c:v>
                </c:pt>
                <c:pt idx="95">
                  <c:v>8.3</c:v>
                </c:pt>
              </c:numCache>
            </c:numRef>
          </c:xVal>
          <c:yVal>
            <c:numRef>
              <c:f>Sheet1!$B$410:$B$505</c:f>
              <c:numCache>
                <c:formatCode>General</c:formatCode>
                <c:ptCount val="96"/>
                <c:pt idx="0">
                  <c:v>35800</c:v>
                </c:pt>
                <c:pt idx="1">
                  <c:v>118000</c:v>
                </c:pt>
                <c:pt idx="2">
                  <c:v>61400</c:v>
                </c:pt>
                <c:pt idx="3">
                  <c:v>83400</c:v>
                </c:pt>
                <c:pt idx="4">
                  <c:v>29200</c:v>
                </c:pt>
                <c:pt idx="5">
                  <c:v>51400</c:v>
                </c:pt>
                <c:pt idx="6">
                  <c:v>43000</c:v>
                </c:pt>
                <c:pt idx="7">
                  <c:v>80400</c:v>
                </c:pt>
                <c:pt idx="8">
                  <c:v>49900</c:v>
                </c:pt>
                <c:pt idx="9">
                  <c:v>46700</c:v>
                </c:pt>
                <c:pt idx="10">
                  <c:v>184700</c:v>
                </c:pt>
                <c:pt idx="11">
                  <c:v>141000</c:v>
                </c:pt>
                <c:pt idx="12">
                  <c:v>50900</c:v>
                </c:pt>
                <c:pt idx="13">
                  <c:v>165700</c:v>
                </c:pt>
                <c:pt idx="14">
                  <c:v>66500</c:v>
                </c:pt>
                <c:pt idx="15">
                  <c:v>115000</c:v>
                </c:pt>
                <c:pt idx="16">
                  <c:v>13500</c:v>
                </c:pt>
                <c:pt idx="17">
                  <c:v>38100</c:v>
                </c:pt>
                <c:pt idx="18">
                  <c:v>55900</c:v>
                </c:pt>
                <c:pt idx="19">
                  <c:v>41500</c:v>
                </c:pt>
                <c:pt idx="20">
                  <c:v>125800</c:v>
                </c:pt>
                <c:pt idx="21">
                  <c:v>45000</c:v>
                </c:pt>
                <c:pt idx="22">
                  <c:v>32200</c:v>
                </c:pt>
                <c:pt idx="23">
                  <c:v>15800</c:v>
                </c:pt>
                <c:pt idx="24">
                  <c:v>43000</c:v>
                </c:pt>
                <c:pt idx="25">
                  <c:v>161200</c:v>
                </c:pt>
                <c:pt idx="26">
                  <c:v>50000</c:v>
                </c:pt>
                <c:pt idx="27">
                  <c:v>53200</c:v>
                </c:pt>
                <c:pt idx="28">
                  <c:v>53000</c:v>
                </c:pt>
                <c:pt idx="29">
                  <c:v>112700</c:v>
                </c:pt>
                <c:pt idx="30">
                  <c:v>51700</c:v>
                </c:pt>
                <c:pt idx="31">
                  <c:v>202300</c:v>
                </c:pt>
                <c:pt idx="32">
                  <c:v>106500</c:v>
                </c:pt>
                <c:pt idx="33">
                  <c:v>167500</c:v>
                </c:pt>
                <c:pt idx="34">
                  <c:v>114200</c:v>
                </c:pt>
                <c:pt idx="35">
                  <c:v>102800</c:v>
                </c:pt>
                <c:pt idx="36">
                  <c:v>149100</c:v>
                </c:pt>
                <c:pt idx="37">
                  <c:v>64900</c:v>
                </c:pt>
                <c:pt idx="38">
                  <c:v>43300</c:v>
                </c:pt>
                <c:pt idx="39">
                  <c:v>29400</c:v>
                </c:pt>
                <c:pt idx="40">
                  <c:v>50900</c:v>
                </c:pt>
                <c:pt idx="41">
                  <c:v>15800</c:v>
                </c:pt>
                <c:pt idx="42">
                  <c:v>114400</c:v>
                </c:pt>
                <c:pt idx="43">
                  <c:v>150100</c:v>
                </c:pt>
                <c:pt idx="44">
                  <c:v>136200</c:v>
                </c:pt>
                <c:pt idx="45">
                  <c:v>65700</c:v>
                </c:pt>
                <c:pt idx="46">
                  <c:v>216300</c:v>
                </c:pt>
                <c:pt idx="47">
                  <c:v>184000</c:v>
                </c:pt>
                <c:pt idx="48">
                  <c:v>147000</c:v>
                </c:pt>
                <c:pt idx="49">
                  <c:v>168600</c:v>
                </c:pt>
                <c:pt idx="50">
                  <c:v>169600</c:v>
                </c:pt>
                <c:pt idx="51">
                  <c:v>149300</c:v>
                </c:pt>
                <c:pt idx="52">
                  <c:v>26700</c:v>
                </c:pt>
                <c:pt idx="53">
                  <c:v>38400</c:v>
                </c:pt>
                <c:pt idx="54">
                  <c:v>135300</c:v>
                </c:pt>
                <c:pt idx="55">
                  <c:v>165200</c:v>
                </c:pt>
                <c:pt idx="56">
                  <c:v>127800</c:v>
                </c:pt>
                <c:pt idx="57">
                  <c:v>91200</c:v>
                </c:pt>
                <c:pt idx="58">
                  <c:v>116600</c:v>
                </c:pt>
                <c:pt idx="59">
                  <c:v>142800</c:v>
                </c:pt>
                <c:pt idx="60">
                  <c:v>160000</c:v>
                </c:pt>
                <c:pt idx="61">
                  <c:v>168200</c:v>
                </c:pt>
                <c:pt idx="62">
                  <c:v>189300</c:v>
                </c:pt>
                <c:pt idx="63">
                  <c:v>52700</c:v>
                </c:pt>
                <c:pt idx="64">
                  <c:v>46400</c:v>
                </c:pt>
                <c:pt idx="65">
                  <c:v>35200</c:v>
                </c:pt>
                <c:pt idx="66">
                  <c:v>122200</c:v>
                </c:pt>
                <c:pt idx="67">
                  <c:v>164600</c:v>
                </c:pt>
                <c:pt idx="68">
                  <c:v>151600</c:v>
                </c:pt>
                <c:pt idx="69">
                  <c:v>121600</c:v>
                </c:pt>
                <c:pt idx="70">
                  <c:v>184500</c:v>
                </c:pt>
                <c:pt idx="71">
                  <c:v>194100</c:v>
                </c:pt>
                <c:pt idx="72">
                  <c:v>108800</c:v>
                </c:pt>
                <c:pt idx="73">
                  <c:v>54700</c:v>
                </c:pt>
                <c:pt idx="74">
                  <c:v>147900</c:v>
                </c:pt>
                <c:pt idx="75">
                  <c:v>43700</c:v>
                </c:pt>
                <c:pt idx="76">
                  <c:v>194200</c:v>
                </c:pt>
                <c:pt idx="77">
                  <c:v>108200</c:v>
                </c:pt>
                <c:pt idx="78">
                  <c:v>44200</c:v>
                </c:pt>
                <c:pt idx="79">
                  <c:v>115700</c:v>
                </c:pt>
                <c:pt idx="80">
                  <c:v>46900</c:v>
                </c:pt>
                <c:pt idx="81">
                  <c:v>126900</c:v>
                </c:pt>
                <c:pt idx="82">
                  <c:v>116300</c:v>
                </c:pt>
                <c:pt idx="83">
                  <c:v>211500</c:v>
                </c:pt>
                <c:pt idx="84">
                  <c:v>8400</c:v>
                </c:pt>
                <c:pt idx="85">
                  <c:v>105800</c:v>
                </c:pt>
                <c:pt idx="86">
                  <c:v>181300</c:v>
                </c:pt>
                <c:pt idx="87">
                  <c:v>77000</c:v>
                </c:pt>
                <c:pt idx="88">
                  <c:v>135400</c:v>
                </c:pt>
                <c:pt idx="89">
                  <c:v>117400</c:v>
                </c:pt>
                <c:pt idx="90">
                  <c:v>168700</c:v>
                </c:pt>
                <c:pt idx="91">
                  <c:v>45100</c:v>
                </c:pt>
                <c:pt idx="92">
                  <c:v>53900</c:v>
                </c:pt>
                <c:pt idx="93">
                  <c:v>49200</c:v>
                </c:pt>
                <c:pt idx="94">
                  <c:v>34700</c:v>
                </c:pt>
                <c:pt idx="95">
                  <c:v>137100</c:v>
                </c:pt>
              </c:numCache>
            </c:numRef>
          </c:yVal>
          <c:smooth val="0"/>
        </c:ser>
        <c:ser>
          <c:idx val="3"/>
          <c:order val="3"/>
          <c:tx>
            <c:strRef>
              <c:f>Sheet1!$B$507</c:f>
              <c:strCache>
                <c:ptCount val="1"/>
                <c:pt idx="0">
                  <c:v>Overall trend</c:v>
                </c:pt>
              </c:strCache>
            </c:strRef>
          </c:tx>
          <c:spPr>
            <a:ln w="34925">
              <a:solidFill>
                <a:srgbClr val="F43F5E"/>
              </a:solidFill>
            </a:ln>
          </c:spPr>
          <c:marker>
            <c:symbol val="none"/>
          </c:marker>
          <c:xVal>
            <c:numRef>
              <c:f>Sheet1!$A$508:$A$509</c:f>
              <c:numCache>
                <c:formatCode>General</c:formatCode>
                <c:ptCount val="2"/>
                <c:pt idx="0">
                  <c:v>0</c:v>
                </c:pt>
                <c:pt idx="1">
                  <c:v>20</c:v>
                </c:pt>
              </c:numCache>
            </c:numRef>
          </c:xVal>
          <c:yVal>
            <c:numRef>
              <c:f>Sheet1!$B$508:$B$509</c:f>
              <c:numCache>
                <c:formatCode>General</c:formatCode>
                <c:ptCount val="2"/>
                <c:pt idx="0">
                  <c:v>56066.504713812334</c:v>
                </c:pt>
                <c:pt idx="1">
                  <c:v>122607.20226210443</c:v>
                </c:pt>
              </c:numCache>
            </c:numRef>
          </c:yVal>
          <c:smooth val="0"/>
        </c:ser>
        <c:axId val="-2128940872"/>
        <c:axId val="-2129643912"/>
      </c:scatterChart>
      <c:valAx>
        <c:axId val="-2128940872"/>
        <c:scaling>
          <c:orientation val="minMax"/>
        </c:scaling>
        <c:delete val="0"/>
        <c:axPos val="b"/>
        <c:title>
          <c:tx>
            <c:rich>
              <a:bodyPr/>
              <a:lstStyle/>
              <a:p>
                <a:r>
                  <a:t>Years of experience</a:t>
                </a:r>
              </a:p>
            </c:rich>
          </c:tx>
          <c:layout/>
          <c:overlay val="0"/>
        </c:title>
        <c:numFmt formatCode="0" sourceLinked="0"/>
        <c:majorTickMark val="out"/>
        <c:minorTickMark val="none"/>
        <c:tickLblPos val="nextTo"/>
        <c:spPr>
          <a:ln>
            <a:solidFill>
              <a:srgbClr val="CBD5E1"/>
            </a:solidFill>
          </a:ln>
        </c:spPr>
        <c:crossAx val="-2129643912"/>
        <c:crosses val="autoZero"/>
        <c:crossBetween val="midCat"/>
      </c:valAx>
      <c:valAx>
        <c:axId val="-2129643912"/>
        <c:scaling>
          <c:orientation val="minMax"/>
        </c:scaling>
        <c:delete val="0"/>
        <c:axPos val="l"/>
        <c:majorGridlines>
          <c:spPr>
            <a:ln>
              <a:solidFill>
                <a:srgbClr val="E2E8F0"/>
              </a:solidFill>
            </a:ln>
          </c:spPr>
        </c:majorGridlines>
        <c:numFmt formatCode="$#,##0,&quot;k&quot;" sourceLinked="0"/>
        <c:majorTickMark val="out"/>
        <c:minorTickMark val="none"/>
        <c:tickLblPos val="nextTo"/>
        <c:spPr>
          <a:ln>
            <a:noFill/>
          </a:ln>
        </c:spPr>
        <c:crossAx val="-2128940872"/>
        <c:crosses val="autoZero"/>
        <c:crossBetween val="midCat"/>
      </c:valAx>
    </c:plotArea>
    <c:legend>
      <c:legendPos val="t"/>
      <c:overlay val="0"/>
      <c:txPr>
        <a:bodyPr/>
        <a:lstStyle/>
        <a:p>
          <a:pPr>
            <a:defRPr sz="1100"/>
          </a:pPr>
        </a:p>
      </c:txPr>
    </c:legend>
    <c:plotVisOnly val="1"/>
    <c:dispBlanksAs val="gap"/>
    <c:showDLblsOverMax val="0"/>
  </c:chart>
  <c:txPr>
    <a:bodyPr/>
    <a:lstStyle/>
    <a:p>
      <a:pPr>
        <a:defRPr sz="1100">
          <a:solidFill>
            <a:srgbClr val="33415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Value</c:v>
                </c:pt>
              </c:strCache>
            </c:strRef>
          </c:tx>
          <c:dPt>
            <c:idx val="0"/>
            <c:spPr>
              <a:solidFill>
                <a:srgbClr val="14B8A6"/>
              </a:solidFill>
            </c:spPr>
          </c:dPt>
          <c:dPt>
            <c:idx val="1"/>
            <c:spPr>
              <a:solidFill>
                <a:srgbClr val="6366F1"/>
              </a:solidFill>
            </c:spPr>
          </c:dPt>
          <c:dPt>
            <c:idx val="2"/>
            <c:spPr>
              <a:solidFill>
                <a:srgbClr val="A78BFA"/>
              </a:solidFill>
            </c:spPr>
          </c:dPt>
          <c:cat>
            <c:strRef>
              <c:f>Sheet1!$A$2:$A$4</c:f>
              <c:strCache>
                <c:ptCount val="3"/>
                <c:pt idx="0">
                  <c:v>Bachelors</c:v>
                </c:pt>
                <c:pt idx="1">
                  <c:v>Masters</c:v>
                </c:pt>
                <c:pt idx="2">
                  <c:v>PhD</c:v>
                </c:pt>
              </c:strCache>
            </c:strRef>
          </c:cat>
          <c:val>
            <c:numRef>
              <c:f>Sheet1!$B$2:$B$4</c:f>
              <c:numCache>
                <c:formatCode>General</c:formatCode>
                <c:ptCount val="3"/>
                <c:pt idx="0">
                  <c:v>80975.84541062803</c:v>
                </c:pt>
                <c:pt idx="1">
                  <c:v>92215.22842639594</c:v>
                </c:pt>
                <c:pt idx="2">
                  <c:v>100321.875</c:v>
                </c:pt>
              </c:numCache>
            </c:numRef>
          </c:val>
        </c:ser>
        <c:dLbls>
          <c:numFmt formatCode="$#,##0,&quot;k&quot;"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crossAx val="-2113994440"/>
        <c:crosses val="autoZero"/>
        <c:auto val="1"/>
        <c:lblAlgn val="ctr"/>
        <c:lblOffset val="100"/>
        <c:noMultiLvlLbl val="0"/>
      </c:catAx>
      <c:valAx>
        <c:axId val="-2113994440"/>
        <c:scaling/>
        <c:delete val="0"/>
        <c:axPos val="l"/>
        <c:majorGridlines>
          <c:spPr>
            <a:ln>
              <a:solidFill>
                <a:srgbClr val="E2E8F0"/>
              </a:solidFill>
            </a:ln>
          </c:spPr>
        </c:majorGridlines>
        <c:numFmt formatCode="$#,##0,&quot;k&quot;" sourceLinked="0"/>
        <c:majorTickMark val="out"/>
        <c:minorTickMark val="none"/>
        <c:tickLblPos val="nextTo"/>
        <c:spPr>
          <a:ln>
            <a:noFill/>
          </a:ln>
        </c:spPr>
        <c:crossAx val="-2068027336"/>
        <c:crosses val="autoZero"/>
      </c:valAx>
    </c:plotArea>
    <c:dispBlanksAs val="gap"/>
  </c:chart>
  <c:txPr>
    <a:bodyPr/>
    <a:lstStyle/>
    <a:p>
      <a:pPr>
        <a:defRPr sz="1200">
          <a:solidFill>
            <a:srgbClr val="334155"/>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Value</c:v>
                </c:pt>
              </c:strCache>
            </c:strRef>
          </c:tx>
          <c:dPt>
            <c:idx val="0"/>
            <c:spPr>
              <a:solidFill>
                <a:srgbClr val="64748B"/>
              </a:solidFill>
            </c:spPr>
          </c:dPt>
          <c:dPt>
            <c:idx val="1"/>
            <c:spPr>
              <a:solidFill>
                <a:srgbClr val="6366F1"/>
              </a:solidFill>
            </c:spPr>
          </c:dPt>
          <c:dPt>
            <c:idx val="2"/>
            <c:spPr>
              <a:solidFill>
                <a:srgbClr val="14B8A6"/>
              </a:solidFill>
            </c:spPr>
          </c:dPt>
          <c:cat>
            <c:strRef>
              <c:f>Sheet1!$A$2:$A$4</c:f>
              <c:strCache>
                <c:ptCount val="3"/>
                <c:pt idx="0">
                  <c:v>Not remote</c:v>
                </c:pt>
                <c:pt idx="1">
                  <c:v>Hybrid</c:v>
                </c:pt>
                <c:pt idx="2">
                  <c:v>Remote</c:v>
                </c:pt>
              </c:strCache>
            </c:strRef>
          </c:cat>
          <c:val>
            <c:numRef>
              <c:f>Sheet1!$B$2:$B$4</c:f>
              <c:numCache>
                <c:formatCode>General</c:formatCode>
                <c:ptCount val="3"/>
                <c:pt idx="0">
                  <c:v>90888.95705521472</c:v>
                </c:pt>
                <c:pt idx="1">
                  <c:v>87491.06145251397</c:v>
                </c:pt>
                <c:pt idx="2">
                  <c:v>89136.07594936709</c:v>
                </c:pt>
              </c:numCache>
            </c:numRef>
          </c:val>
        </c:ser>
        <c:dLbls>
          <c:numFmt formatCode="$#,##0,&quot;k&quot;"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crossAx val="-2113994440"/>
        <c:crosses val="autoZero"/>
        <c:auto val="1"/>
        <c:lblAlgn val="ctr"/>
        <c:lblOffset val="100"/>
        <c:noMultiLvlLbl val="0"/>
      </c:catAx>
      <c:valAx>
        <c:axId val="-2113994440"/>
        <c:scaling/>
        <c:delete val="0"/>
        <c:axPos val="l"/>
        <c:majorGridlines>
          <c:spPr>
            <a:ln>
              <a:solidFill>
                <a:srgbClr val="E2E8F0"/>
              </a:solidFill>
            </a:ln>
          </c:spPr>
        </c:majorGridlines>
        <c:numFmt formatCode="$#,##0,&quot;k&quot;" sourceLinked="0"/>
        <c:majorTickMark val="out"/>
        <c:minorTickMark val="none"/>
        <c:tickLblPos val="nextTo"/>
        <c:spPr>
          <a:ln>
            <a:noFill/>
          </a:ln>
        </c:spPr>
        <c:crossAx val="-2068027336"/>
        <c:crosses val="autoZero"/>
      </c:valAx>
    </c:plotArea>
    <c:dispBlanksAs val="gap"/>
  </c:chart>
  <c:txPr>
    <a:bodyPr/>
    <a:lstStyle/>
    <a:p>
      <a:pPr>
        <a:defRPr sz="1200">
          <a:solidFill>
            <a:srgbClr val="334155"/>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Value</c:v>
                </c:pt>
              </c:strCache>
            </c:strRef>
          </c:tx>
          <c:dPt>
            <c:idx val="0"/>
            <c:spPr>
              <a:solidFill>
                <a:srgbClr val="6366F1"/>
              </a:solidFill>
            </c:spPr>
          </c:dPt>
          <c:dPt>
            <c:idx val="1"/>
            <c:spPr>
              <a:solidFill>
                <a:srgbClr val="6366F1"/>
              </a:solidFill>
            </c:spPr>
          </c:dPt>
          <c:dPt>
            <c:idx val="2"/>
            <c:spPr>
              <a:solidFill>
                <a:srgbClr val="6366F1"/>
              </a:solidFill>
            </c:spPr>
          </c:dPt>
          <c:dPt>
            <c:idx val="3"/>
            <c:spPr>
              <a:solidFill>
                <a:srgbClr val="6366F1"/>
              </a:solidFill>
            </c:spPr>
          </c:dPt>
          <c:dPt>
            <c:idx val="4"/>
            <c:spPr>
              <a:solidFill>
                <a:srgbClr val="6366F1"/>
              </a:solidFill>
            </c:spPr>
          </c:dPt>
          <c:dPt>
            <c:idx val="5"/>
            <c:spPr>
              <a:solidFill>
                <a:srgbClr val="6366F1"/>
              </a:solidFill>
            </c:spPr>
          </c:dPt>
          <c:dPt>
            <c:idx val="6"/>
            <c:spPr>
              <a:solidFill>
                <a:srgbClr val="6366F1"/>
              </a:solidFill>
            </c:spPr>
          </c:dPt>
          <c:dPt>
            <c:idx val="7"/>
            <c:spPr>
              <a:solidFill>
                <a:srgbClr val="6366F1"/>
              </a:solidFill>
            </c:spPr>
          </c:dPt>
          <c:dPt>
            <c:idx val="8"/>
            <c:spPr>
              <a:solidFill>
                <a:srgbClr val="6366F1"/>
              </a:solidFill>
            </c:spPr>
          </c:dPt>
          <c:dPt>
            <c:idx val="9"/>
            <c:spPr>
              <a:solidFill>
                <a:srgbClr val="6366F1"/>
              </a:solidFill>
            </c:spPr>
          </c:dPt>
          <c:dPt>
            <c:idx val="10"/>
            <c:spPr>
              <a:solidFill>
                <a:srgbClr val="6366F1"/>
              </a:solidFill>
            </c:spPr>
          </c:dPt>
          <c:dPt>
            <c:idx val="11"/>
            <c:spPr>
              <a:solidFill>
                <a:srgbClr val="6366F1"/>
              </a:solidFill>
            </c:spPr>
          </c:dPt>
          <c:dPt>
            <c:idx val="12"/>
            <c:spPr>
              <a:solidFill>
                <a:srgbClr val="6366F1"/>
              </a:solidFill>
            </c:spPr>
          </c:dPt>
          <c:dPt>
            <c:idx val="13"/>
            <c:spPr>
              <a:solidFill>
                <a:srgbClr val="6366F1"/>
              </a:solidFill>
            </c:spPr>
          </c:dPt>
          <c:dPt>
            <c:idx val="14"/>
            <c:spPr>
              <a:solidFill>
                <a:srgbClr val="F43F5E"/>
              </a:solidFill>
            </c:spPr>
          </c:dPt>
          <c:cat>
            <c:strRef>
              <c:f>Sheet1!$A$2:$A$16</c:f>
              <c:strCache>
                <c:ptCount val="15"/>
                <c:pt idx="0">
                  <c:v>AI Solutions Architect</c:v>
                </c:pt>
                <c:pt idx="1">
                  <c:v>AI Consultant</c:v>
                </c:pt>
                <c:pt idx="2">
                  <c:v>Business Intelligence Analyst</c:v>
                </c:pt>
                <c:pt idx="3">
                  <c:v>Data Scientist</c:v>
                </c:pt>
                <c:pt idx="4">
                  <c:v>Machine Learning Engineer</c:v>
                </c:pt>
                <c:pt idx="5">
                  <c:v>AI Product Manager</c:v>
                </c:pt>
                <c:pt idx="6">
                  <c:v>Applied Scientist</c:v>
                </c:pt>
                <c:pt idx="7">
                  <c:v>Data Engineer</c:v>
                </c:pt>
                <c:pt idx="8">
                  <c:v>Deep Learning Engineer</c:v>
                </c:pt>
                <c:pt idx="9">
                  <c:v>AI Research Scientist</c:v>
                </c:pt>
                <c:pt idx="10">
                  <c:v>Computer Vision Engineer</c:v>
                </c:pt>
                <c:pt idx="11">
                  <c:v>Data Analyst</c:v>
                </c:pt>
                <c:pt idx="12">
                  <c:v>MLOps Engineer</c:v>
                </c:pt>
                <c:pt idx="13">
                  <c:v>NLP Engineer</c:v>
                </c:pt>
                <c:pt idx="14">
                  <c:v>Research Intern</c:v>
                </c:pt>
              </c:strCache>
            </c:strRef>
          </c:cat>
          <c:val>
            <c:numRef>
              <c:f>Sheet1!$B$2:$B$16</c:f>
              <c:numCache>
                <c:formatCode>General</c:formatCode>
                <c:ptCount val="15"/>
                <c:pt idx="0">
                  <c:v>111305.88235294117</c:v>
                </c:pt>
                <c:pt idx="1">
                  <c:v>101671.79487179487</c:v>
                </c:pt>
                <c:pt idx="2">
                  <c:v>99354.28571428571</c:v>
                </c:pt>
                <c:pt idx="3">
                  <c:v>98736.0</c:v>
                </c:pt>
                <c:pt idx="4">
                  <c:v>94536.66666666667</c:v>
                </c:pt>
                <c:pt idx="5">
                  <c:v>94342.30769230769</c:v>
                </c:pt>
                <c:pt idx="6">
                  <c:v>94312.19512195123</c:v>
                </c:pt>
                <c:pt idx="7">
                  <c:v>92615.15151515152</c:v>
                </c:pt>
                <c:pt idx="8">
                  <c:v>92014.63414634146</c:v>
                </c:pt>
                <c:pt idx="9">
                  <c:v>91603.125</c:v>
                </c:pt>
                <c:pt idx="10">
                  <c:v>89528.57142857143</c:v>
                </c:pt>
                <c:pt idx="11">
                  <c:v>87843.33333333333</c:v>
                </c:pt>
                <c:pt idx="12">
                  <c:v>86084.61538461539</c:v>
                </c:pt>
                <c:pt idx="13">
                  <c:v>83057.69230769231</c:v>
                </c:pt>
                <c:pt idx="14">
                  <c:v>31439.024390243903</c:v>
                </c:pt>
              </c:numCache>
            </c:numRef>
          </c:val>
        </c:ser>
        <c:dLbls>
          <c:numFmt formatCode="$#,##0,&quot;k&quot;" sourceLinked="0"/>
          <c:txPr>
            <a:bodyPr/>
            <a:lstStyle/>
            <a:p>
              <a:pPr>
                <a:defRPr sz="10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BD5E1"/>
            </a:solidFill>
          </a:ln>
        </c:spPr>
        <c:crossAx val="-2113994440"/>
        <c:crosses val="autoZero"/>
        <c:auto val="1"/>
        <c:lblAlgn val="ctr"/>
        <c:lblOffset val="100"/>
        <c:noMultiLvlLbl val="0"/>
      </c:catAx>
      <c:valAx>
        <c:axId val="-2113994440"/>
        <c:scaling/>
        <c:delete val="0"/>
        <c:axPos val="b"/>
        <c:majorGridlines>
          <c:spPr>
            <a:ln>
              <a:solidFill>
                <a:srgbClr val="E2E8F0"/>
              </a:solidFill>
            </a:ln>
          </c:spPr>
        </c:majorGridlines>
        <c:numFmt formatCode="$#,##0,&quot;k&quot;" sourceLinked="0"/>
        <c:majorTickMark val="out"/>
        <c:minorTickMark val="none"/>
        <c:tickLblPos val="nextTo"/>
        <c:spPr>
          <a:ln>
            <a:noFill/>
          </a:ln>
        </c:spPr>
        <c:crossAx val="-2068027336"/>
        <c:crosses val="autoZero"/>
      </c:valAx>
    </c:plotArea>
    <c:dispBlanksAs val="gap"/>
  </c:chart>
  <c:txPr>
    <a:bodyPr/>
    <a:lstStyle/>
    <a:p>
      <a:pPr>
        <a:defRPr sz="1000">
          <a:solidFill>
            <a:srgbClr val="334155"/>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Value</c:v>
                </c:pt>
              </c:strCache>
            </c:strRef>
          </c:tx>
          <c:dPt>
            <c:idx val="0"/>
            <c:spPr>
              <a:solidFill>
                <a:srgbClr val="64748B"/>
              </a:solidFill>
            </c:spPr>
          </c:dPt>
          <c:dPt>
            <c:idx val="1"/>
            <c:spPr>
              <a:solidFill>
                <a:srgbClr val="F59E0B"/>
              </a:solidFill>
            </c:spPr>
          </c:dPt>
          <c:dPt>
            <c:idx val="2"/>
            <c:spPr>
              <a:solidFill>
                <a:srgbClr val="6366F1"/>
              </a:solidFill>
            </c:spPr>
          </c:dPt>
          <c:dPt>
            <c:idx val="3"/>
            <c:spPr>
              <a:solidFill>
                <a:srgbClr val="14B8A6"/>
              </a:solidFill>
            </c:spPr>
          </c:dPt>
          <c:cat>
            <c:strRef>
              <c:f>Sheet1!$A$2:$A$5</c:f>
              <c:strCache>
                <c:ptCount val="4"/>
                <c:pt idx="0">
                  <c:v>Linear</c:v>
                </c:pt>
                <c:pt idx="1">
                  <c:v>Decision Tree</c:v>
                </c:pt>
                <c:pt idx="2">
                  <c:v>Random Forest</c:v>
                </c:pt>
                <c:pt idx="3">
                  <c:v>Gradient Boosting</c:v>
                </c:pt>
              </c:strCache>
            </c:strRef>
          </c:cat>
          <c:val>
            <c:numRef>
              <c:f>Sheet1!$B$2:$B$5</c:f>
              <c:numCache>
                <c:formatCode>General</c:formatCode>
                <c:ptCount val="4"/>
                <c:pt idx="0">
                  <c:v>0.2770311758511821</c:v>
                </c:pt>
                <c:pt idx="1">
                  <c:v>0.8279719814422176</c:v>
                </c:pt>
                <c:pt idx="2">
                  <c:v>0.8529462196453448</c:v>
                </c:pt>
                <c:pt idx="3">
                  <c:v>0.9353006608864767</c:v>
                </c:pt>
              </c:numCache>
            </c:numRef>
          </c:val>
        </c:ser>
        <c:dLbls>
          <c:numFmt formatCode="0.000"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crossAx val="-2113994440"/>
        <c:crosses val="autoZero"/>
        <c:auto val="1"/>
        <c:lblAlgn val="ctr"/>
        <c:lblOffset val="100"/>
        <c:noMultiLvlLbl val="0"/>
      </c:catAx>
      <c:valAx>
        <c:axId val="-2113994440"/>
        <c:scaling/>
        <c:delete val="0"/>
        <c:axPos val="l"/>
        <c:majorGridlines>
          <c:spPr>
            <a:ln>
              <a:solidFill>
                <a:srgbClr val="E2E8F0"/>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200">
          <a:solidFill>
            <a:srgbClr val="334155"/>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Value</c:v>
                </c:pt>
              </c:strCache>
            </c:strRef>
          </c:tx>
          <c:dPt>
            <c:idx val="0"/>
            <c:spPr>
              <a:solidFill>
                <a:srgbClr val="64748B"/>
              </a:solidFill>
            </c:spPr>
          </c:dPt>
          <c:dPt>
            <c:idx val="1"/>
            <c:spPr>
              <a:solidFill>
                <a:srgbClr val="F59E0B"/>
              </a:solidFill>
            </c:spPr>
          </c:dPt>
          <c:dPt>
            <c:idx val="2"/>
            <c:spPr>
              <a:solidFill>
                <a:srgbClr val="6366F1"/>
              </a:solidFill>
            </c:spPr>
          </c:dPt>
          <c:dPt>
            <c:idx val="3"/>
            <c:spPr>
              <a:solidFill>
                <a:srgbClr val="14B8A6"/>
              </a:solidFill>
            </c:spPr>
          </c:dPt>
          <c:cat>
            <c:strRef>
              <c:f>Sheet1!$A$2:$A$5</c:f>
              <c:strCache>
                <c:ptCount val="4"/>
                <c:pt idx="0">
                  <c:v>Linear</c:v>
                </c:pt>
                <c:pt idx="1">
                  <c:v>Decision Tree</c:v>
                </c:pt>
                <c:pt idx="2">
                  <c:v>Random Forest</c:v>
                </c:pt>
                <c:pt idx="3">
                  <c:v>Gradient Boosting</c:v>
                </c:pt>
              </c:strCache>
            </c:strRef>
          </c:cat>
          <c:val>
            <c:numRef>
              <c:f>Sheet1!$B$2:$B$5</c:f>
              <c:numCache>
                <c:formatCode>General</c:formatCode>
                <c:ptCount val="4"/>
                <c:pt idx="0">
                  <c:v>0.2743244056438005</c:v>
                </c:pt>
                <c:pt idx="1">
                  <c:v>0.7728672467501999</c:v>
                </c:pt>
                <c:pt idx="2">
                  <c:v>0.8491688634390331</c:v>
                </c:pt>
                <c:pt idx="3">
                  <c:v>0.9297460861223923</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5E1"/>
            </a:solidFill>
          </a:ln>
        </c:spPr>
        <c:crossAx val="-2113994440"/>
        <c:crosses val="autoZero"/>
        <c:auto val="1"/>
        <c:lblAlgn val="ctr"/>
        <c:lblOffset val="100"/>
        <c:noMultiLvlLbl val="0"/>
      </c:catAx>
      <c:valAx>
        <c:axId val="-2113994440"/>
        <c:scaling/>
        <c:delete val="0"/>
        <c:axPos val="l"/>
        <c:majorGridlines>
          <c:spPr>
            <a:ln>
              <a:solidFill>
                <a:srgbClr val="E2E8F0"/>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200">
          <a:solidFill>
            <a:srgbClr val="334155"/>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Value</c:v>
                </c:pt>
              </c:strCache>
            </c:strRef>
          </c:tx>
          <c:dPt>
            <c:idx val="0"/>
            <c:spPr>
              <a:solidFill>
                <a:srgbClr val="6366F1"/>
              </a:solidFill>
            </c:spPr>
          </c:dPt>
          <c:dPt>
            <c:idx val="1"/>
            <c:spPr>
              <a:solidFill>
                <a:srgbClr val="14B8A6"/>
              </a:solidFill>
            </c:spPr>
          </c:dPt>
          <c:dPt>
            <c:idx val="2"/>
            <c:spPr>
              <a:solidFill>
                <a:srgbClr val="6366F1"/>
              </a:solidFill>
            </c:spPr>
          </c:dPt>
          <c:dPt>
            <c:idx val="3"/>
            <c:spPr>
              <a:solidFill>
                <a:srgbClr val="14B8A6"/>
              </a:solidFill>
            </c:spPr>
          </c:dPt>
          <c:dPt>
            <c:idx val="4"/>
            <c:spPr>
              <a:solidFill>
                <a:srgbClr val="6366F1"/>
              </a:solidFill>
            </c:spPr>
          </c:dPt>
          <c:dPt>
            <c:idx val="5"/>
            <c:spPr>
              <a:solidFill>
                <a:srgbClr val="6366F1"/>
              </a:solidFill>
            </c:spPr>
          </c:dPt>
          <c:dPt>
            <c:idx val="6"/>
            <c:spPr>
              <a:solidFill>
                <a:srgbClr val="6366F1"/>
              </a:solidFill>
            </c:spPr>
          </c:dPt>
          <c:dPt>
            <c:idx val="7"/>
            <c:spPr>
              <a:solidFill>
                <a:srgbClr val="14B8A6"/>
              </a:solidFill>
            </c:spPr>
          </c:dPt>
          <c:dPt>
            <c:idx val="8"/>
            <c:spPr>
              <a:solidFill>
                <a:srgbClr val="F59E0B"/>
              </a:solidFill>
            </c:spPr>
          </c:dPt>
          <c:dPt>
            <c:idx val="9"/>
            <c:spPr>
              <a:solidFill>
                <a:srgbClr val="F59E0B"/>
              </a:solidFill>
            </c:spPr>
          </c:dPt>
          <c:dPt>
            <c:idx val="10"/>
            <c:spPr>
              <a:solidFill>
                <a:srgbClr val="F59E0B"/>
              </a:solidFill>
            </c:spPr>
          </c:dPt>
          <c:cat>
            <c:strRef>
              <c:f>Sheet1!$A$2:$A$12</c:f>
              <c:strCache>
                <c:ptCount val="11"/>
                <c:pt idx="0">
                  <c:v>Location</c:v>
                </c:pt>
                <c:pt idx="1">
                  <c:v>Experience (Years)</c:v>
                </c:pt>
                <c:pt idx="2">
                  <c:v>Job Title</c:v>
                </c:pt>
                <c:pt idx="3">
                  <c:v>Skill Count</c:v>
                </c:pt>
                <c:pt idx="4">
                  <c:v>Company</c:v>
                </c:pt>
                <c:pt idx="5">
                  <c:v>Industry</c:v>
                </c:pt>
                <c:pt idx="6">
                  <c:v>Certification</c:v>
                </c:pt>
                <c:pt idx="7">
                  <c:v>Education</c:v>
                </c:pt>
                <c:pt idx="8">
                  <c:v>Remote Yes</c:v>
                </c:pt>
                <c:pt idx="9">
                  <c:v>Remote No</c:v>
                </c:pt>
                <c:pt idx="10">
                  <c:v>Remote Hybrid</c:v>
                </c:pt>
              </c:strCache>
            </c:strRef>
          </c:cat>
          <c:val>
            <c:numRef>
              <c:f>Sheet1!$B$2:$B$12</c:f>
              <c:numCache>
                <c:formatCode>General</c:formatCode>
                <c:ptCount val="11"/>
                <c:pt idx="0">
                  <c:v>0.5124007758533611</c:v>
                </c:pt>
                <c:pt idx="1">
                  <c:v>0.23041121297261072</c:v>
                </c:pt>
                <c:pt idx="2">
                  <c:v>0.11705951840658708</c:v>
                </c:pt>
                <c:pt idx="3">
                  <c:v>0.04446048929833838</c:v>
                </c:pt>
                <c:pt idx="4">
                  <c:v>0.033546014857181096</c:v>
                </c:pt>
                <c:pt idx="5">
                  <c:v>0.02322255116686111</c:v>
                </c:pt>
                <c:pt idx="6">
                  <c:v>0.014802966258233873</c:v>
                </c:pt>
                <c:pt idx="7">
                  <c:v>0.01360479221548339</c:v>
                </c:pt>
                <c:pt idx="8">
                  <c:v>0.003725389789496806</c:v>
                </c:pt>
                <c:pt idx="9">
                  <c:v>0.003620608572693195</c:v>
                </c:pt>
                <c:pt idx="10">
                  <c:v>0.003145680609153193</c:v>
                </c:pt>
              </c:numCache>
            </c:numRef>
          </c:val>
        </c:ser>
        <c:dLbls>
          <c:numFmt formatCode="0.0%" sourceLinked="0"/>
          <c:txPr>
            <a:bodyPr/>
            <a:lstStyle/>
            <a:p>
              <a:pPr>
                <a:defRPr sz="10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BD5E1"/>
            </a:solidFill>
          </a:ln>
        </c:spPr>
        <c:crossAx val="-2113994440"/>
        <c:crosses val="autoZero"/>
        <c:auto val="1"/>
        <c:lblAlgn val="ctr"/>
        <c:lblOffset val="100"/>
        <c:noMultiLvlLbl val="0"/>
      </c:catAx>
      <c:valAx>
        <c:axId val="-2113994440"/>
        <c:scaling/>
        <c:delete val="0"/>
        <c:axPos val="b"/>
        <c:majorGridlines>
          <c:spPr>
            <a:ln>
              <a:solidFill>
                <a:srgbClr val="E2E8F0"/>
              </a:solidFill>
            </a:ln>
          </c:spPr>
        </c:majorGridlines>
        <c:numFmt formatCode="0%" sourceLinked="0"/>
        <c:majorTickMark val="out"/>
        <c:minorTickMark val="none"/>
        <c:tickLblPos val="nextTo"/>
        <c:spPr>
          <a:ln>
            <a:noFill/>
          </a:ln>
        </c:spPr>
        <c:crossAx val="-2068027336"/>
        <c:crosses val="autoZero"/>
      </c:valAx>
    </c:plotArea>
    <c:dispBlanksAs val="gap"/>
  </c:chart>
  <c:txPr>
    <a:bodyPr/>
    <a:lstStyle/>
    <a:p>
      <a:pPr>
        <a:defRPr sz="1000">
          <a:solidFill>
            <a:srgbClr val="334155"/>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chart" Target="../charts/chart4.xml"/><Relationship Id="rId10"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chart" Target="../charts/char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image" Target="../media/image4.png"/><Relationship Id="rId10"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chart" Target="../charts/char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 Id="rId9" Type="http://schemas.openxmlformats.org/officeDocument/2006/relationships/chart" Target="../charts/char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hero.png"/>
          <p:cNvPicPr>
            <a:picLocks noChangeAspect="1"/>
          </p:cNvPicPr>
          <p:nvPr/>
        </p:nvPicPr>
        <p:blipFill>
          <a:blip r:embed="rId2"/>
          <a:srcRect l="26063" r="26063"/>
          <a:stretch>
            <a:fillRect/>
          </a:stretch>
        </p:blipFill>
        <p:spPr>
          <a:xfrm>
            <a:off x="6309360" y="0"/>
            <a:ext cx="5882335" cy="6858000"/>
          </a:xfrm>
          <a:prstGeom prst="rect">
            <a:avLst/>
          </a:prstGeom>
        </p:spPr>
      </p:pic>
      <p:sp>
        <p:nvSpPr>
          <p:cNvPr id="3" name="TextBox 2"/>
          <p:cNvSpPr txBox="1"/>
          <p:nvPr/>
        </p:nvSpPr>
        <p:spPr>
          <a:xfrm>
            <a:off x="640080" y="1417320"/>
            <a:ext cx="5486400" cy="365760"/>
          </a:xfrm>
          <a:prstGeom prst="rect">
            <a:avLst/>
          </a:prstGeom>
          <a:noFill/>
        </p:spPr>
        <p:txBody>
          <a:bodyPr wrap="square" anchor="t" lIns="73152" rIns="73152" tIns="73152" bIns="73152">
            <a:spAutoFit/>
          </a:bodyPr>
          <a:lstStyle/>
          <a:p>
            <a:pPr algn="l">
              <a:spcAft>
                <a:spcPts val="400"/>
              </a:spcAft>
            </a:pPr>
            <a:r>
              <a:rPr sz="1300" b="1">
                <a:solidFill>
                  <a:srgbClr val="14B8A6"/>
                </a:solidFill>
                <a:latin typeface="Calibri"/>
              </a:rPr>
              <a:t>DATA SCIENCE  •  MACHINE LEARNING  •  BEGINNER FRIENDLY</a:t>
            </a:r>
          </a:p>
        </p:txBody>
      </p:sp>
      <p:sp>
        <p:nvSpPr>
          <p:cNvPr id="4" name="TextBox 3"/>
          <p:cNvSpPr txBox="1"/>
          <p:nvPr/>
        </p:nvSpPr>
        <p:spPr>
          <a:xfrm>
            <a:off x="640080" y="1828800"/>
            <a:ext cx="5577840" cy="1828800"/>
          </a:xfrm>
          <a:prstGeom prst="rect">
            <a:avLst/>
          </a:prstGeom>
          <a:noFill/>
        </p:spPr>
        <p:txBody>
          <a:bodyPr wrap="square" anchor="t" lIns="73152" rIns="73152" tIns="73152" bIns="73152">
            <a:spAutoFit/>
          </a:bodyPr>
          <a:lstStyle/>
          <a:p>
            <a:pPr algn="l">
              <a:spcAft>
                <a:spcPts val="400"/>
              </a:spcAft>
            </a:pPr>
            <a:r>
              <a:rPr sz="4600" b="1">
                <a:solidFill>
                  <a:srgbClr val="FFFFFF"/>
                </a:solidFill>
                <a:latin typeface="Calibri"/>
              </a:rPr>
              <a:t>AI/ML Job Salary Prediction</a:t>
            </a:r>
          </a:p>
        </p:txBody>
      </p:sp>
      <p:sp>
        <p:nvSpPr>
          <p:cNvPr id="5" name="TextBox 4"/>
          <p:cNvSpPr txBox="1"/>
          <p:nvPr/>
        </p:nvSpPr>
        <p:spPr>
          <a:xfrm>
            <a:off x="640080" y="3337560"/>
            <a:ext cx="5486400" cy="1097280"/>
          </a:xfrm>
          <a:prstGeom prst="rect">
            <a:avLst/>
          </a:prstGeom>
          <a:noFill/>
        </p:spPr>
        <p:txBody>
          <a:bodyPr wrap="square" anchor="t" lIns="73152" rIns="73152" tIns="73152" bIns="73152">
            <a:spAutoFit/>
          </a:bodyPr>
          <a:lstStyle/>
          <a:p>
            <a:pPr algn="l">
              <a:spcAft>
                <a:spcPts val="400"/>
              </a:spcAft>
            </a:pPr>
            <a:r>
              <a:rPr sz="1800" b="0">
                <a:solidFill>
                  <a:srgbClr val="CBD5E1"/>
                </a:solidFill>
                <a:latin typeface="Calibri"/>
              </a:rPr>
              <a:t>How 500 AI &amp; machine-learning job records are used to teach a computer to estimate salaries, explained step by step.</a:t>
            </a:r>
          </a:p>
        </p:txBody>
      </p:sp>
      <p:sp>
        <p:nvSpPr>
          <p:cNvPr id="6" name="Rounded Rectangle 5">
            <a:hlinkClick action="ppaction://hlinksldjump" r:id="rId3"/>
          </p:cNvPr>
          <p:cNvSpPr/>
          <p:nvPr/>
        </p:nvSpPr>
        <p:spPr>
          <a:xfrm>
            <a:off x="640080" y="4572000"/>
            <a:ext cx="2651760" cy="54864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a:solidFill>
                  <a:srgbClr val="0F172A"/>
                </a:solidFill>
                <a:latin typeface="Calibri"/>
              </a:rPr>
              <a:t>Start the tour  →</a:t>
            </a:r>
          </a:p>
        </p:txBody>
      </p:sp>
      <p:sp>
        <p:nvSpPr>
          <p:cNvPr id="7" name="Rounded Rectangle 6">
            <a:hlinkClick action="ppaction://hlinksldjump" r:id="rId4"/>
          </p:cNvPr>
          <p:cNvSpPr/>
          <p:nvPr/>
        </p:nvSpPr>
        <p:spPr>
          <a:xfrm>
            <a:off x="3474720" y="4572000"/>
            <a:ext cx="2377440" cy="548640"/>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500" b="1">
                <a:solidFill>
                  <a:srgbClr val="FFFFFF"/>
                </a:solidFill>
                <a:latin typeface="Calibri"/>
              </a:rPr>
              <a:t>Jump to quiz</a:t>
            </a:r>
          </a:p>
        </p:txBody>
      </p:sp>
      <p:sp>
        <p:nvSpPr>
          <p:cNvPr id="8" name="TextBox 7"/>
          <p:cNvSpPr txBox="1"/>
          <p:nvPr/>
        </p:nvSpPr>
        <p:spPr>
          <a:xfrm>
            <a:off x="640080" y="6035040"/>
            <a:ext cx="5486400" cy="365760"/>
          </a:xfrm>
          <a:prstGeom prst="rect">
            <a:avLst/>
          </a:prstGeom>
          <a:noFill/>
        </p:spPr>
        <p:txBody>
          <a:bodyPr wrap="square" anchor="t" lIns="73152" rIns="73152" tIns="73152" bIns="73152">
            <a:spAutoFit/>
          </a:bodyPr>
          <a:lstStyle/>
          <a:p>
            <a:pPr algn="l">
              <a:spcAft>
                <a:spcPts val="400"/>
              </a:spcAft>
            </a:pPr>
            <a:r>
              <a:rPr sz="1100" b="0">
                <a:solidFill>
                  <a:srgbClr val="94A3B8"/>
                </a:solidFill>
                <a:latin typeface="Calibri"/>
              </a:rPr>
              <a:t>Based on the GitHub project by Vismay Vinod  •  MIT License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Today's journey</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Click any card to jump straight to that part of the deck</a:t>
            </a:r>
          </a:p>
        </p:txBody>
      </p:sp>
      <p:sp>
        <p:nvSpPr>
          <p:cNvPr id="11" name="Rounded Rectangle 10">
            <a:hlinkClick action="ppaction://hlinksldjump" r:id="rId3"/>
          </p:cNvPr>
          <p:cNvSpPr/>
          <p:nvPr/>
        </p:nvSpPr>
        <p:spPr>
          <a:xfrm>
            <a:off x="548640" y="2057400"/>
            <a:ext cx="3520440" cy="1874519"/>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200"/>
              </a:spcAft>
            </a:pPr>
            <a:r>
              <a:rPr sz="3000" b="1">
                <a:solidFill>
                  <a:srgbClr val="6366F1"/>
                </a:solidFill>
                <a:latin typeface="Calibri"/>
              </a:rPr>
              <a:t>01</a:t>
            </a:r>
          </a:p>
          <a:p>
            <a:pPr algn="l">
              <a:spcAft>
                <a:spcPts val="400"/>
              </a:spcAft>
            </a:pPr>
            <a:r>
              <a:rPr sz="1800" b="1">
                <a:solidFill>
                  <a:srgbClr val="0F172A"/>
                </a:solidFill>
                <a:latin typeface="Calibri"/>
              </a:rPr>
              <a:t>The Big Picture</a:t>
            </a:r>
          </a:p>
          <a:p>
            <a:pPr algn="l">
              <a:spcAft>
                <a:spcPts val="0"/>
              </a:spcAft>
            </a:pPr>
            <a:r>
              <a:rPr sz="1300" b="0">
                <a:solidFill>
                  <a:srgbClr val="64748B"/>
                </a:solidFill>
                <a:latin typeface="Calibri"/>
              </a:rPr>
              <a:t>What the project does, in plain words</a:t>
            </a:r>
          </a:p>
        </p:txBody>
      </p:sp>
      <p:sp>
        <p:nvSpPr>
          <p:cNvPr id="12" name="Rounded Rectangle 11">
            <a:hlinkClick action="ppaction://hlinksldjump" r:id="rId4"/>
          </p:cNvPr>
          <p:cNvSpPr/>
          <p:nvPr/>
        </p:nvSpPr>
        <p:spPr>
          <a:xfrm>
            <a:off x="4297679" y="2057400"/>
            <a:ext cx="3520440" cy="1874519"/>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200"/>
              </a:spcAft>
            </a:pPr>
            <a:r>
              <a:rPr sz="3000" b="1">
                <a:solidFill>
                  <a:srgbClr val="14B8A6"/>
                </a:solidFill>
                <a:latin typeface="Calibri"/>
              </a:rPr>
              <a:t>02</a:t>
            </a:r>
          </a:p>
          <a:p>
            <a:pPr algn="l">
              <a:spcAft>
                <a:spcPts val="400"/>
              </a:spcAft>
            </a:pPr>
            <a:r>
              <a:rPr sz="1800" b="1">
                <a:solidFill>
                  <a:srgbClr val="0F172A"/>
                </a:solidFill>
                <a:latin typeface="Calibri"/>
              </a:rPr>
              <a:t>The Data</a:t>
            </a:r>
          </a:p>
          <a:p>
            <a:pPr algn="l">
              <a:spcAft>
                <a:spcPts val="0"/>
              </a:spcAft>
            </a:pPr>
            <a:r>
              <a:rPr sz="1300" b="0">
                <a:solidFill>
                  <a:srgbClr val="64748B"/>
                </a:solidFill>
                <a:latin typeface="Calibri"/>
              </a:rPr>
              <a:t>The 500 job records and how clean they are</a:t>
            </a:r>
          </a:p>
        </p:txBody>
      </p:sp>
      <p:sp>
        <p:nvSpPr>
          <p:cNvPr id="13" name="Rounded Rectangle 12">
            <a:hlinkClick action="ppaction://hlinksldjump" r:id="rId5"/>
          </p:cNvPr>
          <p:cNvSpPr/>
          <p:nvPr/>
        </p:nvSpPr>
        <p:spPr>
          <a:xfrm>
            <a:off x="8046719" y="2057400"/>
            <a:ext cx="3520440" cy="1874519"/>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200"/>
              </a:spcAft>
            </a:pPr>
            <a:r>
              <a:rPr sz="3000" b="1">
                <a:solidFill>
                  <a:srgbClr val="A78BFA"/>
                </a:solidFill>
                <a:latin typeface="Calibri"/>
              </a:rPr>
              <a:t>03</a:t>
            </a:r>
          </a:p>
          <a:p>
            <a:pPr algn="l">
              <a:spcAft>
                <a:spcPts val="400"/>
              </a:spcAft>
            </a:pPr>
            <a:r>
              <a:rPr sz="1800" b="1">
                <a:solidFill>
                  <a:srgbClr val="0F172A"/>
                </a:solidFill>
                <a:latin typeface="Calibri"/>
              </a:rPr>
              <a:t>Exploring Patterns</a:t>
            </a:r>
          </a:p>
          <a:p>
            <a:pPr algn="l">
              <a:spcAft>
                <a:spcPts val="0"/>
              </a:spcAft>
            </a:pPr>
            <a:r>
              <a:rPr sz="1300" b="0">
                <a:solidFill>
                  <a:srgbClr val="64748B"/>
                </a:solidFill>
                <a:latin typeface="Calibri"/>
              </a:rPr>
              <a:t>What affects salary? Charts &amp; numbers</a:t>
            </a:r>
          </a:p>
        </p:txBody>
      </p:sp>
      <p:sp>
        <p:nvSpPr>
          <p:cNvPr id="14" name="Rounded Rectangle 13">
            <a:hlinkClick action="ppaction://hlinksldjump" r:id="rId6"/>
          </p:cNvPr>
          <p:cNvSpPr/>
          <p:nvPr/>
        </p:nvSpPr>
        <p:spPr>
          <a:xfrm>
            <a:off x="548640" y="4206240"/>
            <a:ext cx="3520440" cy="1874519"/>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200"/>
              </a:spcAft>
            </a:pPr>
            <a:r>
              <a:rPr sz="3000" b="1">
                <a:solidFill>
                  <a:srgbClr val="F59E0B"/>
                </a:solidFill>
                <a:latin typeface="Calibri"/>
              </a:rPr>
              <a:t>04</a:t>
            </a:r>
          </a:p>
          <a:p>
            <a:pPr algn="l">
              <a:spcAft>
                <a:spcPts val="400"/>
              </a:spcAft>
            </a:pPr>
            <a:r>
              <a:rPr sz="1800" b="1">
                <a:solidFill>
                  <a:srgbClr val="0F172A"/>
                </a:solidFill>
                <a:latin typeface="Calibri"/>
              </a:rPr>
              <a:t>Building Models</a:t>
            </a:r>
          </a:p>
          <a:p>
            <a:pPr algn="l">
              <a:spcAft>
                <a:spcPts val="0"/>
              </a:spcAft>
            </a:pPr>
            <a:r>
              <a:rPr sz="1300" b="0">
                <a:solidFill>
                  <a:srgbClr val="64748B"/>
                </a:solidFill>
                <a:latin typeface="Calibri"/>
              </a:rPr>
              <a:t>The four 'learning' models and how we prepared data</a:t>
            </a:r>
          </a:p>
        </p:txBody>
      </p:sp>
      <p:sp>
        <p:nvSpPr>
          <p:cNvPr id="15" name="Rounded Rectangle 14">
            <a:hlinkClick action="ppaction://hlinksldjump" r:id="rId7"/>
          </p:cNvPr>
          <p:cNvSpPr/>
          <p:nvPr/>
        </p:nvSpPr>
        <p:spPr>
          <a:xfrm>
            <a:off x="4297679" y="4206240"/>
            <a:ext cx="3520440" cy="1874519"/>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200"/>
              </a:spcAft>
            </a:pPr>
            <a:r>
              <a:rPr sz="3000" b="1">
                <a:solidFill>
                  <a:srgbClr val="F43F5E"/>
                </a:solidFill>
                <a:latin typeface="Calibri"/>
              </a:rPr>
              <a:t>05</a:t>
            </a:r>
          </a:p>
          <a:p>
            <a:pPr algn="l">
              <a:spcAft>
                <a:spcPts val="400"/>
              </a:spcAft>
            </a:pPr>
            <a:r>
              <a:rPr sz="1800" b="1">
                <a:solidFill>
                  <a:srgbClr val="0F172A"/>
                </a:solidFill>
                <a:latin typeface="Calibri"/>
              </a:rPr>
              <a:t>Results &amp; Takeaways</a:t>
            </a:r>
          </a:p>
          <a:p>
            <a:pPr algn="l">
              <a:spcAft>
                <a:spcPts val="0"/>
              </a:spcAft>
            </a:pPr>
            <a:r>
              <a:rPr sz="1300" b="0">
                <a:solidFill>
                  <a:srgbClr val="64748B"/>
                </a:solidFill>
                <a:latin typeface="Calibri"/>
              </a:rPr>
              <a:t>Which model won, how accurate it is, and why</a:t>
            </a:r>
          </a:p>
        </p:txBody>
      </p:sp>
      <p:sp>
        <p:nvSpPr>
          <p:cNvPr id="16" name="Rounded Rectangle 15">
            <a:hlinkClick action="ppaction://hlinksldjump" r:id="rId8"/>
          </p:cNvPr>
          <p:cNvSpPr/>
          <p:nvPr/>
        </p:nvSpPr>
        <p:spPr>
          <a:xfrm>
            <a:off x="8046719" y="4206240"/>
            <a:ext cx="3520440" cy="1874519"/>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200"/>
              </a:spcAft>
            </a:pPr>
            <a:r>
              <a:rPr sz="3000" b="1">
                <a:solidFill>
                  <a:srgbClr val="6366F1"/>
                </a:solidFill>
                <a:latin typeface="Calibri"/>
              </a:rPr>
              <a:t>✓</a:t>
            </a:r>
          </a:p>
          <a:p>
            <a:pPr algn="l">
              <a:spcAft>
                <a:spcPts val="400"/>
              </a:spcAft>
            </a:pPr>
            <a:r>
              <a:rPr sz="1800" b="1">
                <a:solidFill>
                  <a:srgbClr val="0F172A"/>
                </a:solidFill>
                <a:latin typeface="Calibri"/>
              </a:rPr>
              <a:t>Test yourself</a:t>
            </a:r>
          </a:p>
          <a:p>
            <a:pPr algn="l">
              <a:spcAft>
                <a:spcPts val="0"/>
              </a:spcAft>
            </a:pPr>
            <a:r>
              <a:rPr sz="1300" b="0">
                <a:solidFill>
                  <a:srgbClr val="64748B"/>
                </a:solidFill>
                <a:latin typeface="Calibri"/>
              </a:rPr>
              <a:t>Three quick questions with click-to-reveal answers</a:t>
            </a:r>
          </a:p>
        </p:txBody>
      </p:sp>
      <p:sp>
        <p:nvSpPr>
          <p:cNvPr id="17" name="TextBox 16"/>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8" name="TextBox 17"/>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Quiz</a:t>
            </a:r>
          </a:p>
        </p:txBody>
      </p:sp>
      <p:sp>
        <p:nvSpPr>
          <p:cNvPr id="9" name="TextBox 8"/>
          <p:cNvSpPr txBox="1"/>
          <p:nvPr/>
        </p:nvSpPr>
        <p:spPr>
          <a:xfrm>
            <a:off x="822960" y="2011680"/>
            <a:ext cx="5486400" cy="1463040"/>
          </a:xfrm>
          <a:prstGeom prst="rect">
            <a:avLst/>
          </a:prstGeom>
          <a:noFill/>
        </p:spPr>
        <p:txBody>
          <a:bodyPr wrap="square" anchor="t" lIns="73152" rIns="73152" tIns="73152" bIns="73152">
            <a:spAutoFit/>
          </a:bodyPr>
          <a:lstStyle/>
          <a:p>
            <a:pPr algn="l">
              <a:spcAft>
                <a:spcPts val="400"/>
              </a:spcAft>
            </a:pPr>
            <a:r>
              <a:rPr sz="9600" b="1">
                <a:solidFill>
                  <a:srgbClr val="6366F1"/>
                </a:solidFill>
                <a:latin typeface="Calibri"/>
              </a:rPr>
              <a:t>01</a:t>
            </a:r>
          </a:p>
        </p:txBody>
      </p:sp>
      <p:sp>
        <p:nvSpPr>
          <p:cNvPr id="10" name="TextBox 9"/>
          <p:cNvSpPr txBox="1"/>
          <p:nvPr/>
        </p:nvSpPr>
        <p:spPr>
          <a:xfrm>
            <a:off x="822960" y="3566160"/>
            <a:ext cx="10058400" cy="822960"/>
          </a:xfrm>
          <a:prstGeom prst="rect">
            <a:avLst/>
          </a:prstGeom>
          <a:noFill/>
        </p:spPr>
        <p:txBody>
          <a:bodyPr wrap="square" anchor="t" lIns="73152" rIns="73152" tIns="73152" bIns="73152">
            <a:spAutoFit/>
          </a:bodyPr>
          <a:lstStyle/>
          <a:p>
            <a:pPr algn="l">
              <a:spcAft>
                <a:spcPts val="400"/>
              </a:spcAft>
            </a:pPr>
            <a:r>
              <a:rPr sz="4000" b="1">
                <a:solidFill>
                  <a:srgbClr val="FFFFFF"/>
                </a:solidFill>
                <a:latin typeface="Calibri"/>
              </a:rPr>
              <a:t>The Big Picture</a:t>
            </a:r>
          </a:p>
        </p:txBody>
      </p:sp>
      <p:sp>
        <p:nvSpPr>
          <p:cNvPr id="11" name="TextBox 10"/>
          <p:cNvSpPr txBox="1"/>
          <p:nvPr/>
        </p:nvSpPr>
        <p:spPr>
          <a:xfrm>
            <a:off x="822960" y="4434840"/>
            <a:ext cx="9601200" cy="731520"/>
          </a:xfrm>
          <a:prstGeom prst="rect">
            <a:avLst/>
          </a:prstGeom>
          <a:noFill/>
        </p:spPr>
        <p:txBody>
          <a:bodyPr wrap="square" anchor="t" lIns="73152" rIns="73152" tIns="73152" bIns="73152">
            <a:spAutoFit/>
          </a:bodyPr>
          <a:lstStyle/>
          <a:p>
            <a:pPr algn="l">
              <a:spcAft>
                <a:spcPts val="400"/>
              </a:spcAft>
            </a:pPr>
            <a:r>
              <a:rPr sz="1800" b="0">
                <a:solidFill>
                  <a:srgbClr val="94A3B8"/>
                </a:solidFill>
                <a:latin typeface="Calibri"/>
              </a:rPr>
              <a:t>What this project is about, and how a computer learns from examples.</a:t>
            </a:r>
          </a:p>
        </p:txBody>
      </p:sp>
      <p:sp>
        <p:nvSpPr>
          <p:cNvPr id="12" name="Rounded Rectangle 11">
            <a:hlinkClick action="ppaction://hlinksldjump" r:id="rId2"/>
          </p:cNvPr>
          <p:cNvSpPr/>
          <p:nvPr/>
        </p:nvSpPr>
        <p:spPr>
          <a:xfrm>
            <a:off x="822960" y="5394960"/>
            <a:ext cx="2377440" cy="457200"/>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200" b="1">
                <a:solidFill>
                  <a:srgbClr val="FFFFFF"/>
                </a:solidFill>
                <a:latin typeface="Calibri"/>
              </a:rPr>
              <a:t>← Back to agenda</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What is this project?</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A simple way to say: 'here is what a similar AI/ML job usually pays'</a:t>
            </a:r>
          </a:p>
        </p:txBody>
      </p:sp>
      <p:sp>
        <p:nvSpPr>
          <p:cNvPr id="11" name="Rounded Rectangle 10"/>
          <p:cNvSpPr/>
          <p:nvPr/>
        </p:nvSpPr>
        <p:spPr>
          <a:xfrm>
            <a:off x="548640" y="2011680"/>
            <a:ext cx="3566160" cy="23774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6366F1"/>
                </a:solidFill>
                <a:latin typeface="Calibri"/>
              </a:rPr>
              <a:t>The problem</a:t>
            </a:r>
          </a:p>
          <a:p>
            <a:pPr algn="l">
              <a:spcAft>
                <a:spcPts val="400"/>
              </a:spcAft>
            </a:pPr>
            <a:r>
              <a:rPr sz="1300" b="0">
                <a:solidFill>
                  <a:srgbClr val="334155"/>
                </a:solidFill>
                <a:latin typeface="Calibri"/>
              </a:rPr>
              <a:t>Job-seekers and companies want a fair idea of what an AI/ML role should pay.</a:t>
            </a:r>
          </a:p>
          <a:p>
            <a:pPr algn="l">
              <a:spcAft>
                <a:spcPts val="400"/>
              </a:spcAft>
            </a:pPr>
            <a:r>
              <a:rPr sz="1300" b="0">
                <a:solidFill>
                  <a:srgbClr val="334155"/>
                </a:solidFill>
                <a:latin typeface="Calibri"/>
              </a:rPr>
              <a:t>Salary depends on many things at once.</a:t>
            </a:r>
          </a:p>
        </p:txBody>
      </p:sp>
      <p:sp>
        <p:nvSpPr>
          <p:cNvPr id="12" name="Rounded Rectangle 11"/>
          <p:cNvSpPr/>
          <p:nvPr/>
        </p:nvSpPr>
        <p:spPr>
          <a:xfrm>
            <a:off x="4315968" y="2011680"/>
            <a:ext cx="3566160" cy="23774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14B8A6"/>
                </a:solidFill>
                <a:latin typeface="Calibri"/>
              </a:rPr>
              <a:t>The data</a:t>
            </a:r>
          </a:p>
          <a:p>
            <a:pPr algn="l">
              <a:spcAft>
                <a:spcPts val="400"/>
              </a:spcAft>
            </a:pPr>
            <a:r>
              <a:rPr sz="1300" b="0">
                <a:solidFill>
                  <a:srgbClr val="334155"/>
                </a:solidFill>
                <a:latin typeface="Calibri"/>
              </a:rPr>
              <a:t>500 job records.</a:t>
            </a:r>
          </a:p>
          <a:p>
            <a:pPr algn="l">
              <a:spcAft>
                <a:spcPts val="400"/>
              </a:spcAft>
            </a:pPr>
            <a:r>
              <a:rPr sz="1300" b="0">
                <a:solidFill>
                  <a:srgbClr val="334155"/>
                </a:solidFill>
                <a:latin typeface="Calibri"/>
              </a:rPr>
              <a:t>Each record has 11 facts: experience, education, skills, city, company and more.</a:t>
            </a:r>
          </a:p>
        </p:txBody>
      </p:sp>
      <p:sp>
        <p:nvSpPr>
          <p:cNvPr id="13" name="Rounded Rectangle 12"/>
          <p:cNvSpPr/>
          <p:nvPr/>
        </p:nvSpPr>
        <p:spPr>
          <a:xfrm>
            <a:off x="8083296" y="2011680"/>
            <a:ext cx="3566160" cy="23774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F59E0B"/>
                </a:solidFill>
                <a:latin typeface="Calibri"/>
              </a:rPr>
              <a:t>The method</a:t>
            </a:r>
          </a:p>
          <a:p>
            <a:pPr algn="l">
              <a:spcAft>
                <a:spcPts val="400"/>
              </a:spcAft>
            </a:pPr>
            <a:r>
              <a:rPr sz="1300" b="0">
                <a:solidFill>
                  <a:srgbClr val="334155"/>
                </a:solidFill>
                <a:latin typeface="Calibri"/>
              </a:rPr>
              <a:t>Train computer models on past jobs.</a:t>
            </a:r>
          </a:p>
          <a:p>
            <a:pPr algn="l">
              <a:spcAft>
                <a:spcPts val="400"/>
              </a:spcAft>
            </a:pPr>
            <a:r>
              <a:rPr sz="1300" b="0">
                <a:solidFill>
                  <a:srgbClr val="334155"/>
                </a:solidFill>
                <a:latin typeface="Calibri"/>
              </a:rPr>
              <a:t>Then ask them to predict salaries for jobs they have never seen.</a:t>
            </a:r>
          </a:p>
        </p:txBody>
      </p:sp>
      <p:sp>
        <p:nvSpPr>
          <p:cNvPr id="14" name="Rounded Rectangle 13"/>
          <p:cNvSpPr/>
          <p:nvPr/>
        </p:nvSpPr>
        <p:spPr>
          <a:xfrm>
            <a:off x="548640" y="4663440"/>
            <a:ext cx="11100816" cy="1463040"/>
          </a:xfrm>
          <a:prstGeom prst="roundRect">
            <a:avLst>
              <a:gd name="adj" fmla="val 8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pPr>
            <a:r>
              <a:rPr sz="1400" b="1">
                <a:solidFill>
                  <a:srgbClr val="14B8A6"/>
                </a:solidFill>
                <a:latin typeface="Calibri"/>
              </a:rPr>
              <a:t>Everyday analogy</a:t>
            </a:r>
          </a:p>
          <a:p>
            <a:pPr algn="l">
              <a:spcAft>
                <a:spcPts val="0"/>
              </a:spcAft>
            </a:pPr>
            <a:r>
              <a:rPr sz="1700" b="0">
                <a:solidFill>
                  <a:srgbClr val="FFFFFF"/>
                </a:solidFill>
                <a:latin typeface="Calibri"/>
              </a:rPr>
              <a:t>A student studies 400 solved salary problems, then is tested on 100 new ones they have never seen. If they score well, we trust them to answer the next question. That is exactly what this project does.</a:t>
            </a:r>
          </a:p>
        </p:txBody>
      </p:sp>
      <p:sp>
        <p:nvSpPr>
          <p:cNvPr id="15" name="TextBox 14"/>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6" name="TextBox 15"/>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The seven steps, top to bottom</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Every part of the notebook follows this same path</a:t>
            </a:r>
          </a:p>
        </p:txBody>
      </p:sp>
      <p:pic>
        <p:nvPicPr>
          <p:cNvPr id="11" name="Picture 10" descr="c16_workflow.png"/>
          <p:cNvPicPr>
            <a:picLocks noChangeAspect="1"/>
          </p:cNvPicPr>
          <p:nvPr/>
        </p:nvPicPr>
        <p:blipFill>
          <a:blip r:embed="rId9"/>
          <a:stretch>
            <a:fillRect/>
          </a:stretch>
        </p:blipFill>
        <p:spPr>
          <a:xfrm>
            <a:off x="548640" y="2182132"/>
            <a:ext cx="11064240" cy="2768054"/>
          </a:xfrm>
          <a:prstGeom prst="rect">
            <a:avLst/>
          </a:prstGeom>
        </p:spPr>
      </p:pic>
      <p:sp>
        <p:nvSpPr>
          <p:cNvPr id="12" name="TextBox 11"/>
          <p:cNvSpPr txBox="1"/>
          <p:nvPr/>
        </p:nvSpPr>
        <p:spPr>
          <a:xfrm>
            <a:off x="548640" y="5394960"/>
            <a:ext cx="11064240" cy="822960"/>
          </a:xfrm>
          <a:prstGeom prst="rect">
            <a:avLst/>
          </a:prstGeom>
          <a:noFill/>
        </p:spPr>
        <p:txBody>
          <a:bodyPr wrap="square" anchor="t" lIns="73152" rIns="73152" tIns="73152" bIns="73152">
            <a:spAutoFit/>
          </a:bodyPr>
          <a:lstStyle/>
          <a:p>
            <a:pPr algn="l">
              <a:spcAft>
                <a:spcPts val="0"/>
              </a:spcAft>
            </a:pPr>
            <a:r>
              <a:rPr sz="1500" b="0">
                <a:solidFill>
                  <a:srgbClr val="334155"/>
                </a:solidFill>
                <a:latin typeface="Calibri"/>
              </a:rPr>
              <a:t>Think of it like cooking: gather ingredients (data), taste them (explore), wash and chop (prepare), keep some for a test dish (split), cook several recipes (train), taste-test (evaluate), then serve (predict).</a:t>
            </a:r>
          </a:p>
        </p:txBody>
      </p:sp>
      <p:sp>
        <p:nvSpPr>
          <p:cNvPr id="13" name="TextBox 12"/>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4" name="TextBox 13"/>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Quiz</a:t>
            </a:r>
          </a:p>
        </p:txBody>
      </p:sp>
      <p:sp>
        <p:nvSpPr>
          <p:cNvPr id="9" name="TextBox 8"/>
          <p:cNvSpPr txBox="1"/>
          <p:nvPr/>
        </p:nvSpPr>
        <p:spPr>
          <a:xfrm>
            <a:off x="822960" y="2011680"/>
            <a:ext cx="5486400" cy="1463040"/>
          </a:xfrm>
          <a:prstGeom prst="rect">
            <a:avLst/>
          </a:prstGeom>
          <a:noFill/>
        </p:spPr>
        <p:txBody>
          <a:bodyPr wrap="square" anchor="t" lIns="73152" rIns="73152" tIns="73152" bIns="73152">
            <a:spAutoFit/>
          </a:bodyPr>
          <a:lstStyle/>
          <a:p>
            <a:pPr algn="l">
              <a:spcAft>
                <a:spcPts val="400"/>
              </a:spcAft>
            </a:pPr>
            <a:r>
              <a:rPr sz="9600" b="1">
                <a:solidFill>
                  <a:srgbClr val="14B8A6"/>
                </a:solidFill>
                <a:latin typeface="Calibri"/>
              </a:rPr>
              <a:t>02</a:t>
            </a:r>
          </a:p>
        </p:txBody>
      </p:sp>
      <p:sp>
        <p:nvSpPr>
          <p:cNvPr id="10" name="TextBox 9"/>
          <p:cNvSpPr txBox="1"/>
          <p:nvPr/>
        </p:nvSpPr>
        <p:spPr>
          <a:xfrm>
            <a:off x="822960" y="3566160"/>
            <a:ext cx="10058400" cy="822960"/>
          </a:xfrm>
          <a:prstGeom prst="rect">
            <a:avLst/>
          </a:prstGeom>
          <a:noFill/>
        </p:spPr>
        <p:txBody>
          <a:bodyPr wrap="square" anchor="t" lIns="73152" rIns="73152" tIns="73152" bIns="73152">
            <a:spAutoFit/>
          </a:bodyPr>
          <a:lstStyle/>
          <a:p>
            <a:pPr algn="l">
              <a:spcAft>
                <a:spcPts val="400"/>
              </a:spcAft>
            </a:pPr>
            <a:r>
              <a:rPr sz="4000" b="1">
                <a:solidFill>
                  <a:srgbClr val="FFFFFF"/>
                </a:solidFill>
                <a:latin typeface="Calibri"/>
              </a:rPr>
              <a:t>The Data</a:t>
            </a:r>
          </a:p>
        </p:txBody>
      </p:sp>
      <p:sp>
        <p:nvSpPr>
          <p:cNvPr id="11" name="TextBox 10"/>
          <p:cNvSpPr txBox="1"/>
          <p:nvPr/>
        </p:nvSpPr>
        <p:spPr>
          <a:xfrm>
            <a:off x="822960" y="4434840"/>
            <a:ext cx="9601200" cy="731520"/>
          </a:xfrm>
          <a:prstGeom prst="rect">
            <a:avLst/>
          </a:prstGeom>
          <a:noFill/>
        </p:spPr>
        <p:txBody>
          <a:bodyPr wrap="square" anchor="t" lIns="73152" rIns="73152" tIns="73152" bIns="73152">
            <a:spAutoFit/>
          </a:bodyPr>
          <a:lstStyle/>
          <a:p>
            <a:pPr algn="l">
              <a:spcAft>
                <a:spcPts val="400"/>
              </a:spcAft>
            </a:pPr>
            <a:r>
              <a:rPr sz="1800" b="0">
                <a:solidFill>
                  <a:srgbClr val="94A3B8"/>
                </a:solidFill>
                <a:latin typeface="Calibri"/>
              </a:rPr>
              <a:t>Where the numbers come from, what each column means, and whether we can trust them.</a:t>
            </a:r>
          </a:p>
        </p:txBody>
      </p:sp>
      <p:sp>
        <p:nvSpPr>
          <p:cNvPr id="12" name="Rounded Rectangle 11">
            <a:hlinkClick action="ppaction://hlinksldjump" r:id="rId2"/>
          </p:cNvPr>
          <p:cNvSpPr/>
          <p:nvPr/>
        </p:nvSpPr>
        <p:spPr>
          <a:xfrm>
            <a:off x="822960" y="5394960"/>
            <a:ext cx="2377440" cy="457200"/>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200" b="1">
                <a:solidFill>
                  <a:srgbClr val="FFFFFF"/>
                </a:solidFill>
                <a:latin typeface="Calibri"/>
              </a:rPr>
              <a:t>← Back to agenda</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The dataset at a glance</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ai_ml_job_analysis.csv: one row per job, one column per fact</a:t>
            </a:r>
          </a:p>
        </p:txBody>
      </p:sp>
      <p:sp>
        <p:nvSpPr>
          <p:cNvPr id="11" name="Rounded Rectangle 10"/>
          <p:cNvSpPr/>
          <p:nvPr/>
        </p:nvSpPr>
        <p:spPr>
          <a:xfrm>
            <a:off x="548640" y="2011680"/>
            <a:ext cx="3520440" cy="18288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3600" b="1">
                <a:solidFill>
                  <a:srgbClr val="6366F1"/>
                </a:solidFill>
                <a:latin typeface="Calibri"/>
              </a:rPr>
              <a:t>500</a:t>
            </a:r>
          </a:p>
          <a:p>
            <a:pPr algn="l">
              <a:spcAft>
                <a:spcPts val="0"/>
              </a:spcAft>
            </a:pPr>
            <a:r>
              <a:rPr sz="1500" b="0">
                <a:solidFill>
                  <a:srgbClr val="64748B"/>
                </a:solidFill>
                <a:latin typeface="Calibri"/>
              </a:rPr>
              <a:t>job records</a:t>
            </a:r>
          </a:p>
        </p:txBody>
      </p:sp>
      <p:sp>
        <p:nvSpPr>
          <p:cNvPr id="12" name="Rounded Rectangle 11"/>
          <p:cNvSpPr/>
          <p:nvPr/>
        </p:nvSpPr>
        <p:spPr>
          <a:xfrm>
            <a:off x="548640" y="2011680"/>
            <a:ext cx="91440" cy="1828800"/>
          </a:xfrm>
          <a:prstGeom prst="roundRect">
            <a:avLst>
              <a:gd name="adj" fmla="val 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97679" y="2011680"/>
            <a:ext cx="3520440" cy="18288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3600" b="1">
                <a:solidFill>
                  <a:srgbClr val="14B8A6"/>
                </a:solidFill>
                <a:latin typeface="Calibri"/>
              </a:rPr>
              <a:t>11</a:t>
            </a:r>
          </a:p>
          <a:p>
            <a:pPr algn="l">
              <a:spcAft>
                <a:spcPts val="0"/>
              </a:spcAft>
            </a:pPr>
            <a:r>
              <a:rPr sz="1500" b="0">
                <a:solidFill>
                  <a:srgbClr val="64748B"/>
                </a:solidFill>
                <a:latin typeface="Calibri"/>
              </a:rPr>
              <a:t>columns (11 facts each)</a:t>
            </a:r>
          </a:p>
        </p:txBody>
      </p:sp>
      <p:sp>
        <p:nvSpPr>
          <p:cNvPr id="14" name="Rounded Rectangle 13"/>
          <p:cNvSpPr/>
          <p:nvPr/>
        </p:nvSpPr>
        <p:spPr>
          <a:xfrm>
            <a:off x="4297679" y="2011680"/>
            <a:ext cx="91440" cy="1828800"/>
          </a:xfrm>
          <a:prstGeom prst="roundRect">
            <a:avLst>
              <a:gd name="adj" fmla="val 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2011680"/>
            <a:ext cx="3520440" cy="18288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3600" b="1">
                <a:solidFill>
                  <a:srgbClr val="A78BFA"/>
                </a:solidFill>
                <a:latin typeface="Calibri"/>
              </a:rPr>
              <a:t>15</a:t>
            </a:r>
          </a:p>
          <a:p>
            <a:pPr algn="l">
              <a:spcAft>
                <a:spcPts val="0"/>
              </a:spcAft>
            </a:pPr>
            <a:r>
              <a:rPr sz="1500" b="0">
                <a:solidFill>
                  <a:srgbClr val="64748B"/>
                </a:solidFill>
                <a:latin typeface="Calibri"/>
              </a:rPr>
              <a:t>different job titles</a:t>
            </a:r>
          </a:p>
        </p:txBody>
      </p:sp>
      <p:sp>
        <p:nvSpPr>
          <p:cNvPr id="16" name="Rounded Rectangle 15"/>
          <p:cNvSpPr/>
          <p:nvPr/>
        </p:nvSpPr>
        <p:spPr>
          <a:xfrm>
            <a:off x="8046719" y="2011680"/>
            <a:ext cx="91440" cy="1828800"/>
          </a:xfrm>
          <a:prstGeom prst="roundRect">
            <a:avLst>
              <a:gd name="adj" fmla="val 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4114800"/>
            <a:ext cx="3520440" cy="18288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3600" b="1">
                <a:solidFill>
                  <a:srgbClr val="F59E0B"/>
                </a:solidFill>
                <a:latin typeface="Calibri"/>
              </a:rPr>
              <a:t>20</a:t>
            </a:r>
          </a:p>
          <a:p>
            <a:pPr algn="l">
              <a:spcAft>
                <a:spcPts val="0"/>
              </a:spcAft>
            </a:pPr>
            <a:r>
              <a:rPr sz="1500" b="0">
                <a:solidFill>
                  <a:srgbClr val="64748B"/>
                </a:solidFill>
                <a:latin typeface="Calibri"/>
              </a:rPr>
              <a:t>employers</a:t>
            </a:r>
          </a:p>
        </p:txBody>
      </p:sp>
      <p:sp>
        <p:nvSpPr>
          <p:cNvPr id="18" name="Rounded Rectangle 17"/>
          <p:cNvSpPr/>
          <p:nvPr/>
        </p:nvSpPr>
        <p:spPr>
          <a:xfrm>
            <a:off x="548640" y="4114800"/>
            <a:ext cx="91440" cy="1828800"/>
          </a:xfrm>
          <a:prstGeom prst="roundRect">
            <a:avLst>
              <a:gd name="adj" fmla="val 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97679" y="4114800"/>
            <a:ext cx="3520440" cy="18288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3600" b="1">
                <a:solidFill>
                  <a:srgbClr val="F43F5E"/>
                </a:solidFill>
                <a:latin typeface="Calibri"/>
              </a:rPr>
              <a:t>$89,119</a:t>
            </a:r>
          </a:p>
          <a:p>
            <a:pPr algn="l">
              <a:spcAft>
                <a:spcPts val="0"/>
              </a:spcAft>
            </a:pPr>
            <a:r>
              <a:rPr sz="1500" b="0">
                <a:solidFill>
                  <a:srgbClr val="64748B"/>
                </a:solidFill>
                <a:latin typeface="Calibri"/>
              </a:rPr>
              <a:t>average salary (USD)</a:t>
            </a:r>
          </a:p>
        </p:txBody>
      </p:sp>
      <p:sp>
        <p:nvSpPr>
          <p:cNvPr id="20" name="Rounded Rectangle 19"/>
          <p:cNvSpPr/>
          <p:nvPr/>
        </p:nvSpPr>
        <p:spPr>
          <a:xfrm>
            <a:off x="4297679" y="4114800"/>
            <a:ext cx="91440" cy="1828800"/>
          </a:xfrm>
          <a:prstGeom prst="roundRect">
            <a:avLst>
              <a:gd name="adj" fmla="val 0"/>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6719" y="4114800"/>
            <a:ext cx="3520440" cy="18288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3600" b="1">
                <a:solidFill>
                  <a:srgbClr val="6366F1"/>
                </a:solidFill>
                <a:latin typeface="Calibri"/>
              </a:rPr>
              <a:t>$8k–$216k</a:t>
            </a:r>
          </a:p>
          <a:p>
            <a:pPr algn="l">
              <a:spcAft>
                <a:spcPts val="0"/>
              </a:spcAft>
            </a:pPr>
            <a:r>
              <a:rPr sz="1500" b="0">
                <a:solidFill>
                  <a:srgbClr val="64748B"/>
                </a:solidFill>
                <a:latin typeface="Calibri"/>
              </a:rPr>
              <a:t>salary range</a:t>
            </a:r>
          </a:p>
        </p:txBody>
      </p:sp>
      <p:sp>
        <p:nvSpPr>
          <p:cNvPr id="22" name="Rounded Rectangle 21"/>
          <p:cNvSpPr/>
          <p:nvPr/>
        </p:nvSpPr>
        <p:spPr>
          <a:xfrm>
            <a:off x="8046719" y="4114800"/>
            <a:ext cx="91440" cy="1828800"/>
          </a:xfrm>
          <a:prstGeom prst="roundRect">
            <a:avLst>
              <a:gd name="adj" fmla="val 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24" name="TextBox 23"/>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Meet the 11 columns</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What each column means, with a real example from row 3 of the file</a:t>
            </a:r>
          </a:p>
        </p:txBody>
      </p:sp>
      <p:graphicFrame>
        <p:nvGraphicFramePr>
          <p:cNvPr id="11" name="Table 10"/>
          <p:cNvGraphicFramePr>
            <a:graphicFrameLocks noGrp="1"/>
          </p:cNvGraphicFramePr>
          <p:nvPr/>
        </p:nvGraphicFramePr>
        <p:xfrm>
          <a:off x="548640" y="1920240"/>
          <a:ext cx="11064240" cy="4297680"/>
        </p:xfrm>
        <a:graphic>
          <a:graphicData uri="http://schemas.openxmlformats.org/drawingml/2006/table">
            <a:tbl>
              <a:tblPr firstRow="1" bandRow="1">
                <a:tableStyleId>{5C22544A-7EE6-4342-B048-85BDC9FD1C3A}</a:tableStyleId>
              </a:tblPr>
              <a:tblGrid>
                <a:gridCol w="2560320"/>
                <a:gridCol w="5120640"/>
                <a:gridCol w="3383280"/>
              </a:tblGrid>
              <a:tr h="358140">
                <a:tc>
                  <a:txBody>
                    <a:bodyPr/>
                    <a:lstStyle/>
                    <a:p>
                      <a:r>
                        <a:rPr sz="1250" b="1">
                          <a:solidFill>
                            <a:srgbClr val="FFFFFF"/>
                          </a:solidFill>
                          <a:latin typeface="Calibri"/>
                        </a:rPr>
                        <a:t>Column</a:t>
                      </a:r>
                    </a:p>
                  </a:txBody>
                  <a:tcPr marT="27432" marB="27432">
                    <a:solidFill>
                      <a:srgbClr val="0F172A"/>
                    </a:solidFill>
                  </a:tcPr>
                </a:tc>
                <a:tc>
                  <a:txBody>
                    <a:bodyPr/>
                    <a:lstStyle/>
                    <a:p>
                      <a:r>
                        <a:rPr sz="1250" b="1">
                          <a:solidFill>
                            <a:srgbClr val="FFFFFF"/>
                          </a:solidFill>
                          <a:latin typeface="Calibri"/>
                        </a:rPr>
                        <a:t>What it means</a:t>
                      </a:r>
                    </a:p>
                  </a:txBody>
                  <a:tcPr marT="27432" marB="27432">
                    <a:solidFill>
                      <a:srgbClr val="0F172A"/>
                    </a:solidFill>
                  </a:tcPr>
                </a:tc>
                <a:tc>
                  <a:txBody>
                    <a:bodyPr/>
                    <a:lstStyle/>
                    <a:p>
                      <a:r>
                        <a:rPr sz="1250" b="1">
                          <a:solidFill>
                            <a:srgbClr val="FFFFFF"/>
                          </a:solidFill>
                          <a:latin typeface="Calibri"/>
                        </a:rPr>
                        <a:t>Example (row 3)</a:t>
                      </a:r>
                    </a:p>
                  </a:txBody>
                  <a:tcPr marT="27432" marB="27432">
                    <a:solidFill>
                      <a:srgbClr val="0F172A"/>
                    </a:solidFill>
                  </a:tcPr>
                </a:tc>
              </a:tr>
              <a:tr h="358140">
                <a:tc>
                  <a:txBody>
                    <a:bodyPr/>
                    <a:lstStyle/>
                    <a:p>
                      <a:r>
                        <a:rPr sz="1250" b="1">
                          <a:solidFill>
                            <a:srgbClr val="0F172A"/>
                          </a:solidFill>
                          <a:latin typeface="Calibri"/>
                        </a:rPr>
                        <a:t>ID</a:t>
                      </a:r>
                    </a:p>
                  </a:txBody>
                  <a:tcPr marT="27432" marB="27432">
                    <a:solidFill>
                      <a:srgbClr val="FFFFFF"/>
                    </a:solidFill>
                  </a:tcPr>
                </a:tc>
                <a:tc>
                  <a:txBody>
                    <a:bodyPr/>
                    <a:lstStyle/>
                    <a:p>
                      <a:r>
                        <a:rPr sz="1250" b="0">
                          <a:solidFill>
                            <a:srgbClr val="334155"/>
                          </a:solidFill>
                          <a:latin typeface="Calibri"/>
                        </a:rPr>
                        <a:t>Row number (ignored by the model)</a:t>
                      </a:r>
                    </a:p>
                  </a:txBody>
                  <a:tcPr marT="27432" marB="27432">
                    <a:solidFill>
                      <a:srgbClr val="FFFFFF"/>
                    </a:solidFill>
                  </a:tcPr>
                </a:tc>
                <a:tc>
                  <a:txBody>
                    <a:bodyPr/>
                    <a:lstStyle/>
                    <a:p>
                      <a:r>
                        <a:rPr sz="1250" b="0">
                          <a:solidFill>
                            <a:srgbClr val="334155"/>
                          </a:solidFill>
                          <a:latin typeface="Calibri"/>
                        </a:rPr>
                        <a:t>3</a:t>
                      </a:r>
                    </a:p>
                  </a:txBody>
                  <a:tcPr marT="27432" marB="27432">
                    <a:solidFill>
                      <a:srgbClr val="FFFFFF"/>
                    </a:solidFill>
                  </a:tcPr>
                </a:tc>
              </a:tr>
              <a:tr h="358140">
                <a:tc>
                  <a:txBody>
                    <a:bodyPr/>
                    <a:lstStyle/>
                    <a:p>
                      <a:r>
                        <a:rPr sz="1250" b="1">
                          <a:solidFill>
                            <a:srgbClr val="0F172A"/>
                          </a:solidFill>
                          <a:latin typeface="Calibri"/>
                        </a:rPr>
                        <a:t>Job Title</a:t>
                      </a:r>
                    </a:p>
                  </a:txBody>
                  <a:tcPr marT="27432" marB="27432">
                    <a:solidFill>
                      <a:srgbClr val="F1F5F9"/>
                    </a:solidFill>
                  </a:tcPr>
                </a:tc>
                <a:tc>
                  <a:txBody>
                    <a:bodyPr/>
                    <a:lstStyle/>
                    <a:p>
                      <a:r>
                        <a:rPr sz="1250" b="0">
                          <a:solidFill>
                            <a:srgbClr val="334155"/>
                          </a:solidFill>
                          <a:latin typeface="Calibri"/>
                        </a:rPr>
                        <a:t>Role name</a:t>
                      </a:r>
                    </a:p>
                  </a:txBody>
                  <a:tcPr marT="27432" marB="27432">
                    <a:solidFill>
                      <a:srgbClr val="F1F5F9"/>
                    </a:solidFill>
                  </a:tcPr>
                </a:tc>
                <a:tc>
                  <a:txBody>
                    <a:bodyPr/>
                    <a:lstStyle/>
                    <a:p>
                      <a:r>
                        <a:rPr sz="1250" b="0">
                          <a:solidFill>
                            <a:srgbClr val="334155"/>
                          </a:solidFill>
                          <a:latin typeface="Calibri"/>
                        </a:rPr>
                        <a:t>AI Consultant</a:t>
                      </a:r>
                    </a:p>
                  </a:txBody>
                  <a:tcPr marT="27432" marB="27432">
                    <a:solidFill>
                      <a:srgbClr val="F1F5F9"/>
                    </a:solidFill>
                  </a:tcPr>
                </a:tc>
              </a:tr>
              <a:tr h="358140">
                <a:tc>
                  <a:txBody>
                    <a:bodyPr/>
                    <a:lstStyle/>
                    <a:p>
                      <a:r>
                        <a:rPr sz="1250" b="1">
                          <a:solidFill>
                            <a:srgbClr val="0F172A"/>
                          </a:solidFill>
                          <a:latin typeface="Calibri"/>
                        </a:rPr>
                        <a:t>Experience (Years)</a:t>
                      </a:r>
                    </a:p>
                  </a:txBody>
                  <a:tcPr marT="27432" marB="27432">
                    <a:solidFill>
                      <a:srgbClr val="FFFFFF"/>
                    </a:solidFill>
                  </a:tcPr>
                </a:tc>
                <a:tc>
                  <a:txBody>
                    <a:bodyPr/>
                    <a:lstStyle/>
                    <a:p>
                      <a:r>
                        <a:rPr sz="1250" b="0">
                          <a:solidFill>
                            <a:srgbClr val="334155"/>
                          </a:solidFill>
                          <a:latin typeface="Calibri"/>
                        </a:rPr>
                        <a:t>Years of work experience</a:t>
                      </a:r>
                    </a:p>
                  </a:txBody>
                  <a:tcPr marT="27432" marB="27432">
                    <a:solidFill>
                      <a:srgbClr val="FFFFFF"/>
                    </a:solidFill>
                  </a:tcPr>
                </a:tc>
                <a:tc>
                  <a:txBody>
                    <a:bodyPr/>
                    <a:lstStyle/>
                    <a:p>
                      <a:r>
                        <a:rPr sz="1250" b="0">
                          <a:solidFill>
                            <a:srgbClr val="334155"/>
                          </a:solidFill>
                          <a:latin typeface="Calibri"/>
                        </a:rPr>
                        <a:t>13.0</a:t>
                      </a:r>
                    </a:p>
                  </a:txBody>
                  <a:tcPr marT="27432" marB="27432">
                    <a:solidFill>
                      <a:srgbClr val="FFFFFF"/>
                    </a:solidFill>
                  </a:tcPr>
                </a:tc>
              </a:tr>
              <a:tr h="358140">
                <a:tc>
                  <a:txBody>
                    <a:bodyPr/>
                    <a:lstStyle/>
                    <a:p>
                      <a:r>
                        <a:rPr sz="1250" b="1">
                          <a:solidFill>
                            <a:srgbClr val="0F172A"/>
                          </a:solidFill>
                          <a:latin typeface="Calibri"/>
                        </a:rPr>
                        <a:t>Education</a:t>
                      </a:r>
                    </a:p>
                  </a:txBody>
                  <a:tcPr marT="27432" marB="27432">
                    <a:solidFill>
                      <a:srgbClr val="F1F5F9"/>
                    </a:solidFill>
                  </a:tcPr>
                </a:tc>
                <a:tc>
                  <a:txBody>
                    <a:bodyPr/>
                    <a:lstStyle/>
                    <a:p>
                      <a:r>
                        <a:rPr sz="1250" b="0">
                          <a:solidFill>
                            <a:srgbClr val="334155"/>
                          </a:solidFill>
                          <a:latin typeface="Calibri"/>
                        </a:rPr>
                        <a:t>Highest degree: Bachelors / Masters / PhD</a:t>
                      </a:r>
                    </a:p>
                  </a:txBody>
                  <a:tcPr marT="27432" marB="27432">
                    <a:solidFill>
                      <a:srgbClr val="F1F5F9"/>
                    </a:solidFill>
                  </a:tcPr>
                </a:tc>
                <a:tc>
                  <a:txBody>
                    <a:bodyPr/>
                    <a:lstStyle/>
                    <a:p>
                      <a:r>
                        <a:rPr sz="1250" b="0">
                          <a:solidFill>
                            <a:srgbClr val="334155"/>
                          </a:solidFill>
                          <a:latin typeface="Calibri"/>
                        </a:rPr>
                        <a:t>Masters</a:t>
                      </a:r>
                    </a:p>
                  </a:txBody>
                  <a:tcPr marT="27432" marB="27432">
                    <a:solidFill>
                      <a:srgbClr val="F1F5F9"/>
                    </a:solidFill>
                  </a:tcPr>
                </a:tc>
              </a:tr>
              <a:tr h="358140">
                <a:tc>
                  <a:txBody>
                    <a:bodyPr/>
                    <a:lstStyle/>
                    <a:p>
                      <a:r>
                        <a:rPr sz="1250" b="1">
                          <a:solidFill>
                            <a:srgbClr val="0F172A"/>
                          </a:solidFill>
                          <a:latin typeface="Calibri"/>
                        </a:rPr>
                        <a:t>Skill Count</a:t>
                      </a:r>
                    </a:p>
                  </a:txBody>
                  <a:tcPr marT="27432" marB="27432">
                    <a:solidFill>
                      <a:srgbClr val="FFFFFF"/>
                    </a:solidFill>
                  </a:tcPr>
                </a:tc>
                <a:tc>
                  <a:txBody>
                    <a:bodyPr/>
                    <a:lstStyle/>
                    <a:p>
                      <a:r>
                        <a:rPr sz="1250" b="0">
                          <a:solidFill>
                            <a:srgbClr val="334155"/>
                          </a:solidFill>
                          <a:latin typeface="Calibri"/>
                        </a:rPr>
                        <a:t>How many technical skills are listed</a:t>
                      </a:r>
                    </a:p>
                  </a:txBody>
                  <a:tcPr marT="27432" marB="27432">
                    <a:solidFill>
                      <a:srgbClr val="FFFFFF"/>
                    </a:solidFill>
                  </a:tcPr>
                </a:tc>
                <a:tc>
                  <a:txBody>
                    <a:bodyPr/>
                    <a:lstStyle/>
                    <a:p>
                      <a:r>
                        <a:rPr sz="1250" b="0">
                          <a:solidFill>
                            <a:srgbClr val="334155"/>
                          </a:solidFill>
                          <a:latin typeface="Calibri"/>
                        </a:rPr>
                        <a:t>16</a:t>
                      </a:r>
                    </a:p>
                  </a:txBody>
                  <a:tcPr marT="27432" marB="27432">
                    <a:solidFill>
                      <a:srgbClr val="FFFFFF"/>
                    </a:solidFill>
                  </a:tcPr>
                </a:tc>
              </a:tr>
              <a:tr h="358140">
                <a:tc>
                  <a:txBody>
                    <a:bodyPr/>
                    <a:lstStyle/>
                    <a:p>
                      <a:r>
                        <a:rPr sz="1250" b="1">
                          <a:solidFill>
                            <a:srgbClr val="0F172A"/>
                          </a:solidFill>
                          <a:latin typeface="Calibri"/>
                        </a:rPr>
                        <a:t>Industry</a:t>
                      </a:r>
                    </a:p>
                  </a:txBody>
                  <a:tcPr marT="27432" marB="27432">
                    <a:solidFill>
                      <a:srgbClr val="F1F5F9"/>
                    </a:solidFill>
                  </a:tcPr>
                </a:tc>
                <a:tc>
                  <a:txBody>
                    <a:bodyPr/>
                    <a:lstStyle/>
                    <a:p>
                      <a:r>
                        <a:rPr sz="1250" b="0">
                          <a:solidFill>
                            <a:srgbClr val="334155"/>
                          </a:solidFill>
                          <a:latin typeface="Calibri"/>
                        </a:rPr>
                        <a:t>Sector the job belongs to</a:t>
                      </a:r>
                    </a:p>
                  </a:txBody>
                  <a:tcPr marT="27432" marB="27432">
                    <a:solidFill>
                      <a:srgbClr val="F1F5F9"/>
                    </a:solidFill>
                  </a:tcPr>
                </a:tc>
                <a:tc>
                  <a:txBody>
                    <a:bodyPr/>
                    <a:lstStyle/>
                    <a:p>
                      <a:r>
                        <a:rPr sz="1250" b="0">
                          <a:solidFill>
                            <a:srgbClr val="334155"/>
                          </a:solidFill>
                          <a:latin typeface="Calibri"/>
                        </a:rPr>
                        <a:t>Technology</a:t>
                      </a:r>
                    </a:p>
                  </a:txBody>
                  <a:tcPr marT="27432" marB="27432">
                    <a:solidFill>
                      <a:srgbClr val="F1F5F9"/>
                    </a:solidFill>
                  </a:tcPr>
                </a:tc>
              </a:tr>
              <a:tr h="358140">
                <a:tc>
                  <a:txBody>
                    <a:bodyPr/>
                    <a:lstStyle/>
                    <a:p>
                      <a:r>
                        <a:rPr sz="1250" b="1">
                          <a:solidFill>
                            <a:srgbClr val="0F172A"/>
                          </a:solidFill>
                          <a:latin typeface="Calibri"/>
                        </a:rPr>
                        <a:t>Company</a:t>
                      </a:r>
                    </a:p>
                  </a:txBody>
                  <a:tcPr marT="27432" marB="27432">
                    <a:solidFill>
                      <a:srgbClr val="FFFFFF"/>
                    </a:solidFill>
                  </a:tcPr>
                </a:tc>
                <a:tc>
                  <a:txBody>
                    <a:bodyPr/>
                    <a:lstStyle/>
                    <a:p>
                      <a:r>
                        <a:rPr sz="1250" b="0">
                          <a:solidFill>
                            <a:srgbClr val="334155"/>
                          </a:solidFill>
                          <a:latin typeface="Calibri"/>
                        </a:rPr>
                        <a:t>Employer name</a:t>
                      </a:r>
                    </a:p>
                  </a:txBody>
                  <a:tcPr marT="27432" marB="27432">
                    <a:solidFill>
                      <a:srgbClr val="FFFFFF"/>
                    </a:solidFill>
                  </a:tcPr>
                </a:tc>
                <a:tc>
                  <a:txBody>
                    <a:bodyPr/>
                    <a:lstStyle/>
                    <a:p>
                      <a:r>
                        <a:rPr sz="1250" b="0">
                          <a:solidFill>
                            <a:srgbClr val="334155"/>
                          </a:solidFill>
                          <a:latin typeface="Calibri"/>
                        </a:rPr>
                        <a:t>Cognizant</a:t>
                      </a:r>
                    </a:p>
                  </a:txBody>
                  <a:tcPr marT="27432" marB="27432">
                    <a:solidFill>
                      <a:srgbClr val="FFFFFF"/>
                    </a:solidFill>
                  </a:tcPr>
                </a:tc>
              </a:tr>
              <a:tr h="358140">
                <a:tc>
                  <a:txBody>
                    <a:bodyPr/>
                    <a:lstStyle/>
                    <a:p>
                      <a:r>
                        <a:rPr sz="1250" b="1">
                          <a:solidFill>
                            <a:srgbClr val="0F172A"/>
                          </a:solidFill>
                          <a:latin typeface="Calibri"/>
                        </a:rPr>
                        <a:t>Location</a:t>
                      </a:r>
                    </a:p>
                  </a:txBody>
                  <a:tcPr marT="27432" marB="27432">
                    <a:solidFill>
                      <a:srgbClr val="F1F5F9"/>
                    </a:solidFill>
                  </a:tcPr>
                </a:tc>
                <a:tc>
                  <a:txBody>
                    <a:bodyPr/>
                    <a:lstStyle/>
                    <a:p>
                      <a:r>
                        <a:rPr sz="1250" b="0">
                          <a:solidFill>
                            <a:srgbClr val="334155"/>
                          </a:solidFill>
                          <a:latin typeface="Calibri"/>
                        </a:rPr>
                        <a:t>City or country (15 values)</a:t>
                      </a:r>
                    </a:p>
                  </a:txBody>
                  <a:tcPr marT="27432" marB="27432">
                    <a:solidFill>
                      <a:srgbClr val="F1F5F9"/>
                    </a:solidFill>
                  </a:tcPr>
                </a:tc>
                <a:tc>
                  <a:txBody>
                    <a:bodyPr/>
                    <a:lstStyle/>
                    <a:p>
                      <a:r>
                        <a:rPr sz="1250" b="0">
                          <a:solidFill>
                            <a:srgbClr val="334155"/>
                          </a:solidFill>
                          <a:latin typeface="Calibri"/>
                        </a:rPr>
                        <a:t>London, UK</a:t>
                      </a:r>
                    </a:p>
                  </a:txBody>
                  <a:tcPr marT="27432" marB="27432">
                    <a:solidFill>
                      <a:srgbClr val="F1F5F9"/>
                    </a:solidFill>
                  </a:tcPr>
                </a:tc>
              </a:tr>
              <a:tr h="358140">
                <a:tc>
                  <a:txBody>
                    <a:bodyPr/>
                    <a:lstStyle/>
                    <a:p>
                      <a:r>
                        <a:rPr sz="1250" b="1">
                          <a:solidFill>
                            <a:srgbClr val="0F172A"/>
                          </a:solidFill>
                          <a:latin typeface="Calibri"/>
                        </a:rPr>
                        <a:t>Remote Work</a:t>
                      </a:r>
                    </a:p>
                  </a:txBody>
                  <a:tcPr marT="27432" marB="27432">
                    <a:solidFill>
                      <a:srgbClr val="FFFFFF"/>
                    </a:solidFill>
                  </a:tcPr>
                </a:tc>
                <a:tc>
                  <a:txBody>
                    <a:bodyPr/>
                    <a:lstStyle/>
                    <a:p>
                      <a:r>
                        <a:rPr sz="1250" b="0">
                          <a:solidFill>
                            <a:srgbClr val="334155"/>
                          </a:solidFill>
                          <a:latin typeface="Calibri"/>
                        </a:rPr>
                        <a:t>Yes / No / Hybrid</a:t>
                      </a:r>
                    </a:p>
                  </a:txBody>
                  <a:tcPr marT="27432" marB="27432">
                    <a:solidFill>
                      <a:srgbClr val="FFFFFF"/>
                    </a:solidFill>
                  </a:tcPr>
                </a:tc>
                <a:tc>
                  <a:txBody>
                    <a:bodyPr/>
                    <a:lstStyle/>
                    <a:p>
                      <a:r>
                        <a:rPr sz="1250" b="0">
                          <a:solidFill>
                            <a:srgbClr val="334155"/>
                          </a:solidFill>
                          <a:latin typeface="Calibri"/>
                        </a:rPr>
                        <a:t>No</a:t>
                      </a:r>
                    </a:p>
                  </a:txBody>
                  <a:tcPr marT="27432" marB="27432">
                    <a:solidFill>
                      <a:srgbClr val="FFFFFF"/>
                    </a:solidFill>
                  </a:tcPr>
                </a:tc>
              </a:tr>
              <a:tr h="358140">
                <a:tc>
                  <a:txBody>
                    <a:bodyPr/>
                    <a:lstStyle/>
                    <a:p>
                      <a:r>
                        <a:rPr sz="1250" b="1">
                          <a:solidFill>
                            <a:srgbClr val="0F172A"/>
                          </a:solidFill>
                          <a:latin typeface="Calibri"/>
                        </a:rPr>
                        <a:t>Certification</a:t>
                      </a:r>
                    </a:p>
                  </a:txBody>
                  <a:tcPr marT="27432" marB="27432">
                    <a:solidFill>
                      <a:srgbClr val="F1F5F9"/>
                    </a:solidFill>
                  </a:tcPr>
                </a:tc>
                <a:tc>
                  <a:txBody>
                    <a:bodyPr/>
                    <a:lstStyle/>
                    <a:p>
                      <a:r>
                        <a:rPr sz="1250" b="0">
                          <a:solidFill>
                            <a:srgbClr val="334155"/>
                          </a:solidFill>
                          <a:latin typeface="Calibri"/>
                        </a:rPr>
                        <a:t>Professional certificate held, or 'None'</a:t>
                      </a:r>
                    </a:p>
                  </a:txBody>
                  <a:tcPr marT="27432" marB="27432">
                    <a:solidFill>
                      <a:srgbClr val="F1F5F9"/>
                    </a:solidFill>
                  </a:tcPr>
                </a:tc>
                <a:tc>
                  <a:txBody>
                    <a:bodyPr/>
                    <a:lstStyle/>
                    <a:p>
                      <a:r>
                        <a:rPr sz="1250" b="0">
                          <a:solidFill>
                            <a:srgbClr val="334155"/>
                          </a:solidFill>
                          <a:latin typeface="Calibri"/>
                        </a:rPr>
                        <a:t>IBM Data Science Cert</a:t>
                      </a:r>
                    </a:p>
                  </a:txBody>
                  <a:tcPr marT="27432" marB="27432">
                    <a:solidFill>
                      <a:srgbClr val="F1F5F9"/>
                    </a:solidFill>
                  </a:tcPr>
                </a:tc>
              </a:tr>
              <a:tr h="358140">
                <a:tc>
                  <a:txBody>
                    <a:bodyPr/>
                    <a:lstStyle/>
                    <a:p>
                      <a:r>
                        <a:rPr sz="1250" b="1">
                          <a:solidFill>
                            <a:srgbClr val="0F172A"/>
                          </a:solidFill>
                          <a:latin typeface="Calibri"/>
                        </a:rPr>
                        <a:t>Salary (USD)</a:t>
                      </a:r>
                    </a:p>
                  </a:txBody>
                  <a:tcPr marT="27432" marB="27432">
                    <a:solidFill>
                      <a:srgbClr val="FEF3C7"/>
                    </a:solidFill>
                  </a:tcPr>
                </a:tc>
                <a:tc>
                  <a:txBody>
                    <a:bodyPr/>
                    <a:lstStyle/>
                    <a:p>
                      <a:r>
                        <a:rPr sz="1250" b="1">
                          <a:solidFill>
                            <a:srgbClr val="334155"/>
                          </a:solidFill>
                          <a:latin typeface="Calibri"/>
                        </a:rPr>
                        <a:t>THE TARGET: the number we want to predict</a:t>
                      </a:r>
                    </a:p>
                  </a:txBody>
                  <a:tcPr marT="27432" marB="27432">
                    <a:solidFill>
                      <a:srgbClr val="FEF3C7"/>
                    </a:solidFill>
                  </a:tcPr>
                </a:tc>
                <a:tc>
                  <a:txBody>
                    <a:bodyPr/>
                    <a:lstStyle/>
                    <a:p>
                      <a:r>
                        <a:rPr sz="1250" b="1">
                          <a:solidFill>
                            <a:srgbClr val="334155"/>
                          </a:solidFill>
                          <a:latin typeface="Calibri"/>
                        </a:rPr>
                        <a:t>143,200</a:t>
                      </a:r>
                    </a:p>
                  </a:txBody>
                  <a:tcPr marT="27432" marB="27432">
                    <a:solidFill>
                      <a:srgbClr val="FEF3C7"/>
                    </a:solidFill>
                  </a:tcPr>
                </a:tc>
              </a:tr>
            </a:tbl>
          </a:graphicData>
        </a:graphic>
      </p:graphicFrame>
      <p:sp>
        <p:nvSpPr>
          <p:cNvPr id="12" name="TextBox 11"/>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3" name="TextBox 12"/>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Where does the salary sit?</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Most jobs pay between $41k and $134k. Few jobs pay very high salaries.</a:t>
            </a:r>
          </a:p>
        </p:txBody>
      </p:sp>
      <p:graphicFrame>
        <p:nvGraphicFramePr>
          <p:cNvPr id="11" name="Chart 10"/>
          <p:cNvGraphicFramePr>
            <a:graphicFrameLocks noGrp="1"/>
          </p:cNvGraphicFramePr>
          <p:nvPr/>
        </p:nvGraphicFramePr>
        <p:xfrm>
          <a:off x="548640" y="1920240"/>
          <a:ext cx="7498079" cy="4297680"/>
        </p:xfrm>
        <a:graphic>
          <a:graphicData uri="http://schemas.openxmlformats.org/drawingml/2006/chart">
            <c:chart xmlns:c="http://schemas.openxmlformats.org/drawingml/2006/chart" r:id="rId9"/>
          </a:graphicData>
        </a:graphic>
      </p:graphicFrame>
      <p:sp>
        <p:nvSpPr>
          <p:cNvPr id="12" name="Rounded Rectangle 11"/>
          <p:cNvSpPr/>
          <p:nvPr/>
        </p:nvSpPr>
        <p:spPr>
          <a:xfrm>
            <a:off x="8412480" y="2011680"/>
            <a:ext cx="3246120" cy="132588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6366F1"/>
                </a:solidFill>
                <a:latin typeface="Calibri"/>
              </a:rPr>
              <a:t>Average vs typical</a:t>
            </a:r>
          </a:p>
          <a:p>
            <a:pPr algn="l">
              <a:spcAft>
                <a:spcPts val="400"/>
              </a:spcAft>
            </a:pPr>
            <a:r>
              <a:rPr sz="1400" b="0">
                <a:solidFill>
                  <a:srgbClr val="334155"/>
                </a:solidFill>
                <a:latin typeface="Calibri"/>
              </a:rPr>
              <a:t>Average $89,119</a:t>
            </a:r>
          </a:p>
          <a:p>
            <a:pPr algn="l">
              <a:spcAft>
                <a:spcPts val="400"/>
              </a:spcAft>
            </a:pPr>
            <a:r>
              <a:rPr sz="1400" b="0">
                <a:solidFill>
                  <a:srgbClr val="334155"/>
                </a:solidFill>
                <a:latin typeface="Calibri"/>
              </a:rPr>
              <a:t>Median $85,700</a:t>
            </a:r>
          </a:p>
        </p:txBody>
      </p:sp>
      <p:sp>
        <p:nvSpPr>
          <p:cNvPr id="13" name="Rounded Rectangle 12"/>
          <p:cNvSpPr/>
          <p:nvPr/>
        </p:nvSpPr>
        <p:spPr>
          <a:xfrm>
            <a:off x="8412480" y="3520440"/>
            <a:ext cx="3246120" cy="132588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14B8A6"/>
                </a:solidFill>
                <a:latin typeface="Calibri"/>
              </a:rPr>
              <a:t>Why they differ</a:t>
            </a:r>
          </a:p>
          <a:p>
            <a:pPr algn="l">
              <a:spcAft>
                <a:spcPts val="400"/>
              </a:spcAft>
            </a:pPr>
            <a:r>
              <a:rPr sz="1300" b="0">
                <a:solidFill>
                  <a:srgbClr val="334155"/>
                </a:solidFill>
                <a:latin typeface="Calibri"/>
              </a:rPr>
              <a:t>A few very high salaries pull the average upward. This is called a 'right skew'.</a:t>
            </a:r>
          </a:p>
        </p:txBody>
      </p:sp>
      <p:sp>
        <p:nvSpPr>
          <p:cNvPr id="14" name="Rounded Rectangle 13"/>
          <p:cNvSpPr/>
          <p:nvPr/>
        </p:nvSpPr>
        <p:spPr>
          <a:xfrm>
            <a:off x="8412480" y="5029200"/>
            <a:ext cx="3246120" cy="11887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F59E0B"/>
                </a:solidFill>
                <a:latin typeface="Calibri"/>
              </a:rPr>
              <a:t>Hover me!</a:t>
            </a:r>
          </a:p>
          <a:p>
            <a:pPr algn="l">
              <a:spcAft>
                <a:spcPts val="400"/>
              </a:spcAft>
            </a:pPr>
            <a:r>
              <a:rPr sz="1300" b="0">
                <a:solidFill>
                  <a:srgbClr val="334155"/>
                </a:solidFill>
                <a:latin typeface="Calibri"/>
              </a:rPr>
              <a:t>Click the chart to see the exact count for each bin.</a:t>
            </a:r>
          </a:p>
        </p:txBody>
      </p:sp>
      <p:sp>
        <p:nvSpPr>
          <p:cNvPr id="15" name="TextBox 14"/>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6" name="TextBox 15"/>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Quiz</a:t>
            </a:r>
          </a:p>
        </p:txBody>
      </p:sp>
      <p:sp>
        <p:nvSpPr>
          <p:cNvPr id="9" name="TextBox 8"/>
          <p:cNvSpPr txBox="1"/>
          <p:nvPr/>
        </p:nvSpPr>
        <p:spPr>
          <a:xfrm>
            <a:off x="822960" y="2011680"/>
            <a:ext cx="5486400" cy="1463040"/>
          </a:xfrm>
          <a:prstGeom prst="rect">
            <a:avLst/>
          </a:prstGeom>
          <a:noFill/>
        </p:spPr>
        <p:txBody>
          <a:bodyPr wrap="square" anchor="t" lIns="73152" rIns="73152" tIns="73152" bIns="73152">
            <a:spAutoFit/>
          </a:bodyPr>
          <a:lstStyle/>
          <a:p>
            <a:pPr algn="l">
              <a:spcAft>
                <a:spcPts val="400"/>
              </a:spcAft>
            </a:pPr>
            <a:r>
              <a:rPr sz="9600" b="1">
                <a:solidFill>
                  <a:srgbClr val="A78BFA"/>
                </a:solidFill>
                <a:latin typeface="Calibri"/>
              </a:rPr>
              <a:t>03</a:t>
            </a:r>
          </a:p>
        </p:txBody>
      </p:sp>
      <p:sp>
        <p:nvSpPr>
          <p:cNvPr id="10" name="TextBox 9"/>
          <p:cNvSpPr txBox="1"/>
          <p:nvPr/>
        </p:nvSpPr>
        <p:spPr>
          <a:xfrm>
            <a:off x="822960" y="3566160"/>
            <a:ext cx="10058400" cy="822960"/>
          </a:xfrm>
          <a:prstGeom prst="rect">
            <a:avLst/>
          </a:prstGeom>
          <a:noFill/>
        </p:spPr>
        <p:txBody>
          <a:bodyPr wrap="square" anchor="t" lIns="73152" rIns="73152" tIns="73152" bIns="73152">
            <a:spAutoFit/>
          </a:bodyPr>
          <a:lstStyle/>
          <a:p>
            <a:pPr algn="l">
              <a:spcAft>
                <a:spcPts val="400"/>
              </a:spcAft>
            </a:pPr>
            <a:r>
              <a:rPr sz="4000" b="1">
                <a:solidFill>
                  <a:srgbClr val="FFFFFF"/>
                </a:solidFill>
                <a:latin typeface="Calibri"/>
              </a:rPr>
              <a:t>Exploring Patterns</a:t>
            </a:r>
          </a:p>
        </p:txBody>
      </p:sp>
      <p:sp>
        <p:nvSpPr>
          <p:cNvPr id="11" name="TextBox 10"/>
          <p:cNvSpPr txBox="1"/>
          <p:nvPr/>
        </p:nvSpPr>
        <p:spPr>
          <a:xfrm>
            <a:off x="822960" y="4434840"/>
            <a:ext cx="9601200" cy="731520"/>
          </a:xfrm>
          <a:prstGeom prst="rect">
            <a:avLst/>
          </a:prstGeom>
          <a:noFill/>
        </p:spPr>
        <p:txBody>
          <a:bodyPr wrap="square" anchor="t" lIns="73152" rIns="73152" tIns="73152" bIns="73152">
            <a:spAutoFit/>
          </a:bodyPr>
          <a:lstStyle/>
          <a:p>
            <a:pPr algn="l">
              <a:spcAft>
                <a:spcPts val="400"/>
              </a:spcAft>
            </a:pPr>
            <a:r>
              <a:rPr sz="1800" b="0">
                <a:solidFill>
                  <a:srgbClr val="94A3B8"/>
                </a:solidFill>
                <a:latin typeface="Calibri"/>
              </a:rPr>
              <a:t>Before modelling, look at the data: what raises or lowers salary?</a:t>
            </a:r>
          </a:p>
        </p:txBody>
      </p:sp>
      <p:sp>
        <p:nvSpPr>
          <p:cNvPr id="12" name="Rounded Rectangle 11">
            <a:hlinkClick action="ppaction://hlinksldjump" r:id="rId2"/>
          </p:cNvPr>
          <p:cNvSpPr/>
          <p:nvPr/>
        </p:nvSpPr>
        <p:spPr>
          <a:xfrm>
            <a:off x="822960" y="5394960"/>
            <a:ext cx="2377440" cy="457200"/>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200" b="1">
                <a:solidFill>
                  <a:srgbClr val="FFFFFF"/>
                </a:solidFill>
                <a:latin typeface="Calibri"/>
              </a:rPr>
              <a:t>← Back to agenda</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Location is the biggest driver</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Average salary by city/country (hover a bar for the exact value)</a:t>
            </a:r>
          </a:p>
        </p:txBody>
      </p:sp>
      <p:graphicFrame>
        <p:nvGraphicFramePr>
          <p:cNvPr id="11" name="Chart 10"/>
          <p:cNvGraphicFramePr>
            <a:graphicFrameLocks noGrp="1"/>
          </p:cNvGraphicFramePr>
          <p:nvPr/>
        </p:nvGraphicFramePr>
        <p:xfrm>
          <a:off x="457200" y="1828800"/>
          <a:ext cx="6949440" cy="4480560"/>
        </p:xfrm>
        <a:graphic>
          <a:graphicData uri="http://schemas.openxmlformats.org/drawingml/2006/chart">
            <c:chart xmlns:c="http://schemas.openxmlformats.org/drawingml/2006/chart" r:id="rId9"/>
          </a:graphicData>
        </a:graphic>
      </p:graphicFrame>
      <p:sp>
        <p:nvSpPr>
          <p:cNvPr id="12" name="Rounded Rectangle 11"/>
          <p:cNvSpPr/>
          <p:nvPr/>
        </p:nvSpPr>
        <p:spPr>
          <a:xfrm>
            <a:off x="7772400" y="1920240"/>
            <a:ext cx="3886200" cy="10058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500" b="1">
                <a:solidFill>
                  <a:srgbClr val="6366F1"/>
                </a:solidFill>
                <a:latin typeface="Calibri"/>
              </a:rPr>
              <a:t>USA: $137k average</a:t>
            </a:r>
          </a:p>
          <a:p>
            <a:pPr algn="l">
              <a:spcAft>
                <a:spcPts val="400"/>
              </a:spcAft>
            </a:pPr>
            <a:r>
              <a:rPr sz="1200" b="0">
                <a:solidFill>
                  <a:srgbClr val="334155"/>
                </a:solidFill>
                <a:latin typeface="Calibri"/>
              </a:rPr>
              <a:t>137 jobs in this group</a:t>
            </a:r>
          </a:p>
        </p:txBody>
      </p:sp>
      <p:sp>
        <p:nvSpPr>
          <p:cNvPr id="13" name="Rounded Rectangle 12"/>
          <p:cNvSpPr/>
          <p:nvPr/>
        </p:nvSpPr>
        <p:spPr>
          <a:xfrm>
            <a:off x="7772400" y="3035808"/>
            <a:ext cx="3886200" cy="10058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500" b="1">
                <a:solidFill>
                  <a:srgbClr val="14B8A6"/>
                </a:solidFill>
                <a:latin typeface="Calibri"/>
              </a:rPr>
              <a:t>Europe / Canada / Singapore: $115k average</a:t>
            </a:r>
          </a:p>
          <a:p>
            <a:pPr algn="l">
              <a:spcAft>
                <a:spcPts val="400"/>
              </a:spcAft>
            </a:pPr>
            <a:r>
              <a:rPr sz="1200" b="0">
                <a:solidFill>
                  <a:srgbClr val="334155"/>
                </a:solidFill>
                <a:latin typeface="Calibri"/>
              </a:rPr>
              <a:t>137 jobs in this group</a:t>
            </a:r>
          </a:p>
        </p:txBody>
      </p:sp>
      <p:sp>
        <p:nvSpPr>
          <p:cNvPr id="14" name="Rounded Rectangle 13"/>
          <p:cNvSpPr/>
          <p:nvPr/>
        </p:nvSpPr>
        <p:spPr>
          <a:xfrm>
            <a:off x="7772400" y="4151376"/>
            <a:ext cx="3886200" cy="10058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500" b="1">
                <a:solidFill>
                  <a:srgbClr val="F59E0B"/>
                </a:solidFill>
                <a:latin typeface="Calibri"/>
              </a:rPr>
              <a:t>Remote: $88k average</a:t>
            </a:r>
          </a:p>
          <a:p>
            <a:pPr algn="l">
              <a:spcAft>
                <a:spcPts val="400"/>
              </a:spcAft>
            </a:pPr>
            <a:r>
              <a:rPr sz="1200" b="0">
                <a:solidFill>
                  <a:srgbClr val="334155"/>
                </a:solidFill>
                <a:latin typeface="Calibri"/>
              </a:rPr>
              <a:t>32 jobs in this group</a:t>
            </a:r>
          </a:p>
        </p:txBody>
      </p:sp>
      <p:sp>
        <p:nvSpPr>
          <p:cNvPr id="15" name="Rounded Rectangle 14"/>
          <p:cNvSpPr/>
          <p:nvPr/>
        </p:nvSpPr>
        <p:spPr>
          <a:xfrm>
            <a:off x="7772400" y="5266944"/>
            <a:ext cx="3886200" cy="10058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500" b="1">
                <a:solidFill>
                  <a:srgbClr val="F43F5E"/>
                </a:solidFill>
                <a:latin typeface="Calibri"/>
              </a:rPr>
              <a:t>India: $38k average</a:t>
            </a:r>
          </a:p>
          <a:p>
            <a:pPr algn="l">
              <a:spcAft>
                <a:spcPts val="400"/>
              </a:spcAft>
            </a:pPr>
            <a:r>
              <a:rPr sz="1200" b="0">
                <a:solidFill>
                  <a:srgbClr val="334155"/>
                </a:solidFill>
                <a:latin typeface="Calibri"/>
              </a:rPr>
              <a:t>194 jobs in this group</a:t>
            </a:r>
          </a:p>
        </p:txBody>
      </p:sp>
      <p:sp>
        <p:nvSpPr>
          <p:cNvPr id="16" name="TextBox 15"/>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7" name="TextBox 16"/>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More experience, higher salary</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Each dot is one job. The pink line shows the overall direction.</a:t>
            </a:r>
          </a:p>
        </p:txBody>
      </p:sp>
      <p:graphicFrame>
        <p:nvGraphicFramePr>
          <p:cNvPr id="11" name="Chart 10"/>
          <p:cNvGraphicFramePr>
            <a:graphicFrameLocks noGrp="1"/>
          </p:cNvGraphicFramePr>
          <p:nvPr/>
        </p:nvGraphicFramePr>
        <p:xfrm>
          <a:off x="457200" y="1828800"/>
          <a:ext cx="7223760" cy="4480560"/>
        </p:xfrm>
        <a:graphic>
          <a:graphicData uri="http://schemas.openxmlformats.org/drawingml/2006/chart">
            <c:chart xmlns:c="http://schemas.openxmlformats.org/drawingml/2006/chart" r:id="rId9"/>
          </a:graphicData>
        </a:graphic>
      </p:graphicFrame>
      <p:sp>
        <p:nvSpPr>
          <p:cNvPr id="12" name="TextBox 11"/>
          <p:cNvSpPr txBox="1"/>
          <p:nvPr/>
        </p:nvSpPr>
        <p:spPr>
          <a:xfrm>
            <a:off x="7955279" y="1874519"/>
            <a:ext cx="3749039" cy="365760"/>
          </a:xfrm>
          <a:prstGeom prst="rect">
            <a:avLst/>
          </a:prstGeom>
          <a:noFill/>
        </p:spPr>
        <p:txBody>
          <a:bodyPr wrap="square" anchor="t" lIns="73152" rIns="73152" tIns="73152" bIns="73152">
            <a:spAutoFit/>
          </a:bodyPr>
          <a:lstStyle/>
          <a:p>
            <a:pPr algn="l">
              <a:spcAft>
                <a:spcPts val="400"/>
              </a:spcAft>
            </a:pPr>
            <a:r>
              <a:rPr sz="1500" b="1">
                <a:solidFill>
                  <a:srgbClr val="0F172A"/>
                </a:solidFill>
                <a:latin typeface="Calibri"/>
              </a:rPr>
              <a:t>Average salary by experience</a:t>
            </a:r>
          </a:p>
        </p:txBody>
      </p:sp>
      <p:sp>
        <p:nvSpPr>
          <p:cNvPr id="13" name="Rounded Rectangle 12"/>
          <p:cNvSpPr/>
          <p:nvPr/>
        </p:nvSpPr>
        <p:spPr>
          <a:xfrm>
            <a:off x="7955279" y="2286000"/>
            <a:ext cx="3703320" cy="676656"/>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400" b="1">
                <a:solidFill>
                  <a:srgbClr val="6366F1"/>
                </a:solidFill>
                <a:latin typeface="Calibri"/>
              </a:rPr>
              <a:t>0-3 yrs:  $65k</a:t>
            </a:r>
          </a:p>
          <a:p>
            <a:pPr algn="l">
              <a:spcAft>
                <a:spcPts val="400"/>
              </a:spcAft>
            </a:pPr>
            <a:r>
              <a:rPr sz="1100" b="0">
                <a:solidFill>
                  <a:srgbClr val="334155"/>
                </a:solidFill>
                <a:latin typeface="Calibri"/>
              </a:rPr>
              <a:t>68 jobs</a:t>
            </a:r>
          </a:p>
        </p:txBody>
      </p:sp>
      <p:sp>
        <p:nvSpPr>
          <p:cNvPr id="14" name="Rounded Rectangle 13"/>
          <p:cNvSpPr/>
          <p:nvPr/>
        </p:nvSpPr>
        <p:spPr>
          <a:xfrm>
            <a:off x="7955279" y="3072384"/>
            <a:ext cx="3703320" cy="676656"/>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400" b="1">
                <a:solidFill>
                  <a:srgbClr val="14B8A6"/>
                </a:solidFill>
                <a:latin typeface="Calibri"/>
              </a:rPr>
              <a:t>3-6 yrs:  $73k</a:t>
            </a:r>
          </a:p>
          <a:p>
            <a:pPr algn="l">
              <a:spcAft>
                <a:spcPts val="400"/>
              </a:spcAft>
            </a:pPr>
            <a:r>
              <a:rPr sz="1100" b="0">
                <a:solidFill>
                  <a:srgbClr val="334155"/>
                </a:solidFill>
                <a:latin typeface="Calibri"/>
              </a:rPr>
              <a:t>81 jobs</a:t>
            </a:r>
          </a:p>
        </p:txBody>
      </p:sp>
      <p:sp>
        <p:nvSpPr>
          <p:cNvPr id="15" name="Rounded Rectangle 14"/>
          <p:cNvSpPr/>
          <p:nvPr/>
        </p:nvSpPr>
        <p:spPr>
          <a:xfrm>
            <a:off x="7955279" y="3858768"/>
            <a:ext cx="3703320" cy="676656"/>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400" b="1">
                <a:solidFill>
                  <a:srgbClr val="A78BFA"/>
                </a:solidFill>
                <a:latin typeface="Calibri"/>
              </a:rPr>
              <a:t>6-10 yrs:  $80k</a:t>
            </a:r>
          </a:p>
          <a:p>
            <a:pPr algn="l">
              <a:spcAft>
                <a:spcPts val="400"/>
              </a:spcAft>
            </a:pPr>
            <a:r>
              <a:rPr sz="1100" b="0">
                <a:solidFill>
                  <a:srgbClr val="334155"/>
                </a:solidFill>
                <a:latin typeface="Calibri"/>
              </a:rPr>
              <a:t>113 jobs</a:t>
            </a:r>
          </a:p>
        </p:txBody>
      </p:sp>
      <p:sp>
        <p:nvSpPr>
          <p:cNvPr id="16" name="Rounded Rectangle 15"/>
          <p:cNvSpPr/>
          <p:nvPr/>
        </p:nvSpPr>
        <p:spPr>
          <a:xfrm>
            <a:off x="7955279" y="4645152"/>
            <a:ext cx="3703320" cy="676656"/>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400" b="1">
                <a:solidFill>
                  <a:srgbClr val="F59E0B"/>
                </a:solidFill>
                <a:latin typeface="Calibri"/>
              </a:rPr>
              <a:t>10-15 yrs:  $92k</a:t>
            </a:r>
          </a:p>
          <a:p>
            <a:pPr algn="l">
              <a:spcAft>
                <a:spcPts val="400"/>
              </a:spcAft>
            </a:pPr>
            <a:r>
              <a:rPr sz="1100" b="0">
                <a:solidFill>
                  <a:srgbClr val="334155"/>
                </a:solidFill>
                <a:latin typeface="Calibri"/>
              </a:rPr>
              <a:t>122 jobs</a:t>
            </a:r>
          </a:p>
        </p:txBody>
      </p:sp>
      <p:sp>
        <p:nvSpPr>
          <p:cNvPr id="17" name="Rounded Rectangle 16"/>
          <p:cNvSpPr/>
          <p:nvPr/>
        </p:nvSpPr>
        <p:spPr>
          <a:xfrm>
            <a:off x="7955279" y="5431536"/>
            <a:ext cx="3703320" cy="676656"/>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400" b="1">
                <a:solidFill>
                  <a:srgbClr val="F43F5E"/>
                </a:solidFill>
                <a:latin typeface="Calibri"/>
              </a:rPr>
              <a:t>15-20 yrs:  $120k</a:t>
            </a:r>
          </a:p>
          <a:p>
            <a:pPr algn="l">
              <a:spcAft>
                <a:spcPts val="400"/>
              </a:spcAft>
            </a:pPr>
            <a:r>
              <a:rPr sz="1100" b="0">
                <a:solidFill>
                  <a:srgbClr val="334155"/>
                </a:solidFill>
                <a:latin typeface="Calibri"/>
              </a:rPr>
              <a:t>116 jobs</a:t>
            </a:r>
          </a:p>
        </p:txBody>
      </p:sp>
      <p:sp>
        <p:nvSpPr>
          <p:cNvPr id="18" name="TextBox 17"/>
          <p:cNvSpPr txBox="1"/>
          <p:nvPr/>
        </p:nvSpPr>
        <p:spPr>
          <a:xfrm>
            <a:off x="7955279" y="6217920"/>
            <a:ext cx="3749039" cy="274320"/>
          </a:xfrm>
          <a:prstGeom prst="rect">
            <a:avLst/>
          </a:prstGeom>
          <a:noFill/>
        </p:spPr>
        <p:txBody>
          <a:bodyPr wrap="square" anchor="t" lIns="73152" rIns="73152" tIns="73152" bIns="73152">
            <a:spAutoFit/>
          </a:bodyPr>
          <a:lstStyle/>
          <a:p>
            <a:pPr algn="l">
              <a:spcAft>
                <a:spcPts val="400"/>
              </a:spcAft>
            </a:pPr>
            <a:r>
              <a:rPr sz="1100" b="0">
                <a:solidFill>
                  <a:srgbClr val="64748B"/>
                </a:solidFill>
                <a:latin typeface="Calibri"/>
              </a:rPr>
              <a:t>Correlation r = 0.36 (a moderate positive link)</a:t>
            </a:r>
          </a:p>
        </p:txBody>
      </p:sp>
      <p:sp>
        <p:nvSpPr>
          <p:cNvPr id="19" name="TextBox 18"/>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20" name="TextBox 19"/>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Education, remote work and certificates</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Two quick charts, then a short note on certificates</a:t>
            </a:r>
          </a:p>
        </p:txBody>
      </p:sp>
      <p:sp>
        <p:nvSpPr>
          <p:cNvPr id="11" name="TextBox 10"/>
          <p:cNvSpPr txBox="1"/>
          <p:nvPr/>
        </p:nvSpPr>
        <p:spPr>
          <a:xfrm>
            <a:off x="548640" y="1874519"/>
            <a:ext cx="5486400" cy="365760"/>
          </a:xfrm>
          <a:prstGeom prst="rect">
            <a:avLst/>
          </a:prstGeom>
          <a:noFill/>
        </p:spPr>
        <p:txBody>
          <a:bodyPr wrap="square" anchor="t" lIns="73152" rIns="73152" tIns="73152" bIns="73152">
            <a:spAutoFit/>
          </a:bodyPr>
          <a:lstStyle/>
          <a:p>
            <a:pPr algn="l">
              <a:spcAft>
                <a:spcPts val="400"/>
              </a:spcAft>
            </a:pPr>
            <a:r>
              <a:rPr sz="1500" b="1">
                <a:solidFill>
                  <a:srgbClr val="0F172A"/>
                </a:solidFill>
                <a:latin typeface="Calibri"/>
              </a:rPr>
              <a:t>Average salary by education</a:t>
            </a:r>
          </a:p>
        </p:txBody>
      </p:sp>
      <p:graphicFrame>
        <p:nvGraphicFramePr>
          <p:cNvPr id="12" name="Chart 11"/>
          <p:cNvGraphicFramePr>
            <a:graphicFrameLocks noGrp="1"/>
          </p:cNvGraphicFramePr>
          <p:nvPr/>
        </p:nvGraphicFramePr>
        <p:xfrm>
          <a:off x="457200" y="2240280"/>
          <a:ext cx="5486400" cy="3566160"/>
        </p:xfrm>
        <a:graphic>
          <a:graphicData uri="http://schemas.openxmlformats.org/drawingml/2006/chart">
            <c:chart xmlns:c="http://schemas.openxmlformats.org/drawingml/2006/chart" r:id="rId9"/>
          </a:graphicData>
        </a:graphic>
      </p:graphicFrame>
      <p:sp>
        <p:nvSpPr>
          <p:cNvPr id="13" name="TextBox 12"/>
          <p:cNvSpPr txBox="1"/>
          <p:nvPr/>
        </p:nvSpPr>
        <p:spPr>
          <a:xfrm>
            <a:off x="6309360" y="1874519"/>
            <a:ext cx="5486400" cy="365760"/>
          </a:xfrm>
          <a:prstGeom prst="rect">
            <a:avLst/>
          </a:prstGeom>
          <a:noFill/>
        </p:spPr>
        <p:txBody>
          <a:bodyPr wrap="square" anchor="t" lIns="73152" rIns="73152" tIns="73152" bIns="73152">
            <a:spAutoFit/>
          </a:bodyPr>
          <a:lstStyle/>
          <a:p>
            <a:pPr algn="l">
              <a:spcAft>
                <a:spcPts val="400"/>
              </a:spcAft>
            </a:pPr>
            <a:r>
              <a:rPr sz="1500" b="1">
                <a:solidFill>
                  <a:srgbClr val="0F172A"/>
                </a:solidFill>
                <a:latin typeface="Calibri"/>
              </a:rPr>
              <a:t>Average salary by remote work</a:t>
            </a:r>
          </a:p>
        </p:txBody>
      </p:sp>
      <p:graphicFrame>
        <p:nvGraphicFramePr>
          <p:cNvPr id="14" name="Chart 13"/>
          <p:cNvGraphicFramePr>
            <a:graphicFrameLocks noGrp="1"/>
          </p:cNvGraphicFramePr>
          <p:nvPr/>
        </p:nvGraphicFramePr>
        <p:xfrm>
          <a:off x="6217920" y="2240280"/>
          <a:ext cx="5486400" cy="3566160"/>
        </p:xfrm>
        <a:graphic>
          <a:graphicData uri="http://schemas.openxmlformats.org/drawingml/2006/chart">
            <c:chart xmlns:c="http://schemas.openxmlformats.org/drawingml/2006/chart" r:id="rId10"/>
          </a:graphicData>
        </a:graphic>
      </p:graphicFrame>
      <p:sp>
        <p:nvSpPr>
          <p:cNvPr id="15" name="TextBox 14"/>
          <p:cNvSpPr txBox="1"/>
          <p:nvPr/>
        </p:nvSpPr>
        <p:spPr>
          <a:xfrm>
            <a:off x="548640" y="5852160"/>
            <a:ext cx="11064240" cy="502920"/>
          </a:xfrm>
          <a:prstGeom prst="rect">
            <a:avLst/>
          </a:prstGeom>
          <a:noFill/>
        </p:spPr>
        <p:txBody>
          <a:bodyPr wrap="square" anchor="t" lIns="73152" rIns="73152" tIns="73152" bIns="73152">
            <a:spAutoFit/>
          </a:bodyPr>
          <a:lstStyle/>
          <a:p>
            <a:pPr algn="l">
              <a:spcAft>
                <a:spcPts val="0"/>
              </a:spcAft>
            </a:pPr>
            <a:r>
              <a:rPr sz="1300" b="0">
                <a:solidFill>
                  <a:srgbClr val="334155"/>
                </a:solidFill>
                <a:latin typeface="Calibri"/>
              </a:rPr>
              <a:t>Takeaway: a PhD earns about $100k on average vs $81k for a Bachelors. Remote work barely changes pay. Certificates vary from $77k (TensorFlow Developer) to $99k (IBM Data Science Cert).</a:t>
            </a:r>
          </a:p>
        </p:txBody>
      </p:sp>
      <p:sp>
        <p:nvSpPr>
          <p:cNvPr id="16" name="TextBox 15"/>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7" name="TextBox 16"/>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Job titles: role matters</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Average salary per job title, sorted from highest to lowest</a:t>
            </a:r>
          </a:p>
        </p:txBody>
      </p:sp>
      <p:graphicFrame>
        <p:nvGraphicFramePr>
          <p:cNvPr id="11" name="Chart 10"/>
          <p:cNvGraphicFramePr>
            <a:graphicFrameLocks noGrp="1"/>
          </p:cNvGraphicFramePr>
          <p:nvPr/>
        </p:nvGraphicFramePr>
        <p:xfrm>
          <a:off x="457200" y="1828800"/>
          <a:ext cx="7589520" cy="4572000"/>
        </p:xfrm>
        <a:graphic>
          <a:graphicData uri="http://schemas.openxmlformats.org/drawingml/2006/chart">
            <c:chart xmlns:c="http://schemas.openxmlformats.org/drawingml/2006/chart" r:id="rId9"/>
          </a:graphicData>
        </a:graphic>
      </p:graphicFrame>
      <p:sp>
        <p:nvSpPr>
          <p:cNvPr id="12" name="Rounded Rectangle 11"/>
          <p:cNvSpPr/>
          <p:nvPr/>
        </p:nvSpPr>
        <p:spPr>
          <a:xfrm>
            <a:off x="8321040" y="2011680"/>
            <a:ext cx="3337560" cy="19202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6366F1"/>
                </a:solidFill>
                <a:latin typeface="Calibri"/>
              </a:rPr>
              <a:t>Top: AI Solutions Architect</a:t>
            </a:r>
          </a:p>
          <a:p>
            <a:pPr algn="l">
              <a:spcAft>
                <a:spcPts val="400"/>
              </a:spcAft>
            </a:pPr>
            <a:r>
              <a:rPr sz="1300" b="0">
                <a:solidFill>
                  <a:srgbClr val="334155"/>
                </a:solidFill>
                <a:latin typeface="Calibri"/>
              </a:rPr>
              <a:t>Average $111,306. Often senior, strategy-focused roles.</a:t>
            </a:r>
          </a:p>
        </p:txBody>
      </p:sp>
      <p:sp>
        <p:nvSpPr>
          <p:cNvPr id="13" name="Rounded Rectangle 12"/>
          <p:cNvSpPr/>
          <p:nvPr/>
        </p:nvSpPr>
        <p:spPr>
          <a:xfrm>
            <a:off x="8321040" y="4069080"/>
            <a:ext cx="3337560" cy="192024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F43F5E"/>
                </a:solidFill>
                <a:latin typeface="Calibri"/>
              </a:rPr>
              <a:t>Lowest: Research Intern</a:t>
            </a:r>
          </a:p>
          <a:p>
            <a:pPr algn="l">
              <a:spcAft>
                <a:spcPts val="400"/>
              </a:spcAft>
            </a:pPr>
            <a:r>
              <a:rPr sz="1300" b="0">
                <a:solidFill>
                  <a:srgbClr val="334155"/>
                </a:solidFill>
                <a:latin typeface="Calibri"/>
              </a:rPr>
              <a:t>Average $31,439. Typically early-career roles in this data.</a:t>
            </a:r>
          </a:p>
        </p:txBody>
      </p:sp>
      <p:sp>
        <p:nvSpPr>
          <p:cNvPr id="14" name="TextBox 13"/>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5" name="TextBox 14"/>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How numbers move together</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A correlation score runs from -1 to +1. Closer to 0 means little link.</a:t>
            </a:r>
          </a:p>
        </p:txBody>
      </p:sp>
      <p:pic>
        <p:nvPicPr>
          <p:cNvPr id="11" name="Picture 10" descr="c10_correlation.png"/>
          <p:cNvPicPr>
            <a:picLocks noChangeAspect="1"/>
          </p:cNvPicPr>
          <p:nvPr/>
        </p:nvPicPr>
        <p:blipFill>
          <a:blip r:embed="rId9"/>
          <a:stretch>
            <a:fillRect/>
          </a:stretch>
        </p:blipFill>
        <p:spPr>
          <a:xfrm>
            <a:off x="709731" y="1874519"/>
            <a:ext cx="4981336" cy="4389120"/>
          </a:xfrm>
          <a:prstGeom prst="rect">
            <a:avLst/>
          </a:prstGeom>
        </p:spPr>
      </p:pic>
      <p:sp>
        <p:nvSpPr>
          <p:cNvPr id="12" name="Rounded Rectangle 11"/>
          <p:cNvSpPr/>
          <p:nvPr/>
        </p:nvSpPr>
        <p:spPr>
          <a:xfrm>
            <a:off x="6217920" y="1920240"/>
            <a:ext cx="5440680" cy="89611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400" b="1">
                <a:solidFill>
                  <a:srgbClr val="6366F1"/>
                </a:solidFill>
                <a:latin typeface="Calibri"/>
              </a:rPr>
              <a:t>Experience vs salary: +0.36</a:t>
            </a:r>
          </a:p>
          <a:p>
            <a:pPr algn="l">
              <a:spcAft>
                <a:spcPts val="400"/>
              </a:spcAft>
            </a:pPr>
            <a:r>
              <a:rPr sz="1200" b="0">
                <a:solidFill>
                  <a:srgbClr val="334155"/>
                </a:solidFill>
                <a:latin typeface="Calibri"/>
              </a:rPr>
              <a:t>A moderate positive link. More experience usually means higher pay.</a:t>
            </a:r>
          </a:p>
        </p:txBody>
      </p:sp>
      <p:sp>
        <p:nvSpPr>
          <p:cNvPr id="13" name="Rounded Rectangle 12"/>
          <p:cNvSpPr/>
          <p:nvPr/>
        </p:nvSpPr>
        <p:spPr>
          <a:xfrm>
            <a:off x="6217920" y="2944368"/>
            <a:ext cx="5440680" cy="89611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400" b="1">
                <a:solidFill>
                  <a:srgbClr val="14B8A6"/>
                </a:solidFill>
                <a:latin typeface="Calibri"/>
              </a:rPr>
              <a:t>Skill count vs salary: +0.13</a:t>
            </a:r>
          </a:p>
          <a:p>
            <a:pPr algn="l">
              <a:spcAft>
                <a:spcPts val="400"/>
              </a:spcAft>
            </a:pPr>
            <a:r>
              <a:rPr sz="1200" b="0">
                <a:solidFill>
                  <a:srgbClr val="334155"/>
                </a:solidFill>
                <a:latin typeface="Calibri"/>
              </a:rPr>
              <a:t>A weak link. Listing more skills does not guarantee a big salary.</a:t>
            </a:r>
          </a:p>
        </p:txBody>
      </p:sp>
      <p:sp>
        <p:nvSpPr>
          <p:cNvPr id="14" name="Rounded Rectangle 13"/>
          <p:cNvSpPr/>
          <p:nvPr/>
        </p:nvSpPr>
        <p:spPr>
          <a:xfrm>
            <a:off x="6217920" y="3968496"/>
            <a:ext cx="5440680" cy="89611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400" b="1">
                <a:solidFill>
                  <a:srgbClr val="F59E0B"/>
                </a:solidFill>
                <a:latin typeface="Calibri"/>
              </a:rPr>
              <a:t>Experience vs skill count: -0.02</a:t>
            </a:r>
          </a:p>
          <a:p>
            <a:pPr algn="l">
              <a:spcAft>
                <a:spcPts val="400"/>
              </a:spcAft>
            </a:pPr>
            <a:r>
              <a:rPr sz="1200" b="0">
                <a:solidFill>
                  <a:srgbClr val="334155"/>
                </a:solidFill>
                <a:latin typeface="Calibri"/>
              </a:rPr>
              <a:t>Basically unrelated: the two carry different information for the model.</a:t>
            </a:r>
          </a:p>
        </p:txBody>
      </p:sp>
      <p:sp>
        <p:nvSpPr>
          <p:cNvPr id="15" name="Rounded Rectangle 14"/>
          <p:cNvSpPr/>
          <p:nvPr/>
        </p:nvSpPr>
        <p:spPr>
          <a:xfrm>
            <a:off x="6217920" y="5029200"/>
            <a:ext cx="5440680" cy="548640"/>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0"/>
              </a:spcAft>
            </a:pPr>
            <a:r>
              <a:rPr sz="1300" b="1">
                <a:solidFill>
                  <a:srgbClr val="FFFFFF"/>
                </a:solidFill>
                <a:latin typeface="Calibri"/>
              </a:rPr>
              <a:t>Quick question: what does -0.02 mean?  (click the box below)</a:t>
            </a:r>
          </a:p>
        </p:txBody>
      </p:sp>
      <p:sp>
        <p:nvSpPr>
          <p:cNvPr id="16" name="Rounded Rectangle 15"/>
          <p:cNvSpPr/>
          <p:nvPr/>
        </p:nvSpPr>
        <p:spPr>
          <a:xfrm>
            <a:off x="6217920" y="5669280"/>
            <a:ext cx="5440680" cy="594360"/>
          </a:xfrm>
          <a:prstGeom prst="roundRect">
            <a:avLst>
              <a:gd name="adj" fmla="val 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0"/>
              </a:spcAft>
            </a:pPr>
            <a:r>
              <a:rPr sz="1250" b="0">
                <a:solidFill>
                  <a:srgbClr val="0F172A"/>
                </a:solidFill>
                <a:latin typeface="Calibri"/>
              </a:rPr>
              <a:t>Answer: almost no straight-line relationship. The two numbers do not move together.</a:t>
            </a:r>
          </a:p>
        </p:txBody>
      </p:sp>
      <p:sp>
        <p:nvSpPr>
          <p:cNvPr id="17" name="TextBox 16"/>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8" name="TextBox 17"/>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15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Quiz</a:t>
            </a:r>
          </a:p>
        </p:txBody>
      </p:sp>
      <p:sp>
        <p:nvSpPr>
          <p:cNvPr id="9" name="TextBox 8"/>
          <p:cNvSpPr txBox="1"/>
          <p:nvPr/>
        </p:nvSpPr>
        <p:spPr>
          <a:xfrm>
            <a:off x="822960" y="2011680"/>
            <a:ext cx="5486400" cy="1463040"/>
          </a:xfrm>
          <a:prstGeom prst="rect">
            <a:avLst/>
          </a:prstGeom>
          <a:noFill/>
        </p:spPr>
        <p:txBody>
          <a:bodyPr wrap="square" anchor="t" lIns="73152" rIns="73152" tIns="73152" bIns="73152">
            <a:spAutoFit/>
          </a:bodyPr>
          <a:lstStyle/>
          <a:p>
            <a:pPr algn="l">
              <a:spcAft>
                <a:spcPts val="400"/>
              </a:spcAft>
            </a:pPr>
            <a:r>
              <a:rPr sz="9600" b="1">
                <a:solidFill>
                  <a:srgbClr val="F59E0B"/>
                </a:solidFill>
                <a:latin typeface="Calibri"/>
              </a:rPr>
              <a:t>04</a:t>
            </a:r>
          </a:p>
        </p:txBody>
      </p:sp>
      <p:sp>
        <p:nvSpPr>
          <p:cNvPr id="10" name="TextBox 9"/>
          <p:cNvSpPr txBox="1"/>
          <p:nvPr/>
        </p:nvSpPr>
        <p:spPr>
          <a:xfrm>
            <a:off x="822960" y="3566160"/>
            <a:ext cx="10058400" cy="822960"/>
          </a:xfrm>
          <a:prstGeom prst="rect">
            <a:avLst/>
          </a:prstGeom>
          <a:noFill/>
        </p:spPr>
        <p:txBody>
          <a:bodyPr wrap="square" anchor="t" lIns="73152" rIns="73152" tIns="73152" bIns="73152">
            <a:spAutoFit/>
          </a:bodyPr>
          <a:lstStyle/>
          <a:p>
            <a:pPr algn="l">
              <a:spcAft>
                <a:spcPts val="400"/>
              </a:spcAft>
            </a:pPr>
            <a:r>
              <a:rPr sz="4000" b="1">
                <a:solidFill>
                  <a:srgbClr val="FFFFFF"/>
                </a:solidFill>
                <a:latin typeface="Calibri"/>
              </a:rPr>
              <a:t>Building the Models</a:t>
            </a:r>
          </a:p>
        </p:txBody>
      </p:sp>
      <p:sp>
        <p:nvSpPr>
          <p:cNvPr id="11" name="TextBox 10"/>
          <p:cNvSpPr txBox="1"/>
          <p:nvPr/>
        </p:nvSpPr>
        <p:spPr>
          <a:xfrm>
            <a:off x="822960" y="4434840"/>
            <a:ext cx="9601200" cy="731520"/>
          </a:xfrm>
          <a:prstGeom prst="rect">
            <a:avLst/>
          </a:prstGeom>
          <a:noFill/>
        </p:spPr>
        <p:txBody>
          <a:bodyPr wrap="square" anchor="t" lIns="73152" rIns="73152" tIns="73152" bIns="73152">
            <a:spAutoFit/>
          </a:bodyPr>
          <a:lstStyle/>
          <a:p>
            <a:pPr algn="l">
              <a:spcAft>
                <a:spcPts val="400"/>
              </a:spcAft>
            </a:pPr>
            <a:r>
              <a:rPr sz="1800" b="0">
                <a:solidFill>
                  <a:srgbClr val="94A3B8"/>
                </a:solidFill>
                <a:latin typeface="Calibri"/>
              </a:rPr>
              <a:t>Preparing the data, splitting it, and teaching four different models.</a:t>
            </a:r>
          </a:p>
        </p:txBody>
      </p:sp>
      <p:sp>
        <p:nvSpPr>
          <p:cNvPr id="12" name="Rounded Rectangle 11">
            <a:hlinkClick action="ppaction://hlinksldjump" r:id="rId2"/>
          </p:cNvPr>
          <p:cNvSpPr/>
          <p:nvPr/>
        </p:nvSpPr>
        <p:spPr>
          <a:xfrm>
            <a:off x="822960" y="5394960"/>
            <a:ext cx="2377440" cy="457200"/>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200" b="1">
                <a:solidFill>
                  <a:srgbClr val="FFFFFF"/>
                </a:solidFill>
                <a:latin typeface="Calibri"/>
              </a:rPr>
              <a:t>← Back to agenda</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Preparing the data</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Computers only understand numbers, so words must be converted first</a:t>
            </a:r>
          </a:p>
        </p:txBody>
      </p:sp>
      <p:graphicFrame>
        <p:nvGraphicFramePr>
          <p:cNvPr id="11" name="Table 10"/>
          <p:cNvGraphicFramePr>
            <a:graphicFrameLocks noGrp="1"/>
          </p:cNvGraphicFramePr>
          <p:nvPr/>
        </p:nvGraphicFramePr>
        <p:xfrm>
          <a:off x="548640" y="1920240"/>
          <a:ext cx="11064239" cy="4023360"/>
        </p:xfrm>
        <a:graphic>
          <a:graphicData uri="http://schemas.openxmlformats.org/drawingml/2006/table">
            <a:tbl>
              <a:tblPr firstRow="1" bandRow="1">
                <a:tableStyleId>{5C22544A-7EE6-4342-B048-85BDC9FD1C3A}</a:tableStyleId>
              </a:tblPr>
              <a:tblGrid>
                <a:gridCol w="2377440"/>
                <a:gridCol w="4937760"/>
                <a:gridCol w="3749039"/>
              </a:tblGrid>
              <a:tr h="670560">
                <a:tc>
                  <a:txBody>
                    <a:bodyPr/>
                    <a:lstStyle/>
                    <a:p>
                      <a:r>
                        <a:rPr sz="1300" b="1">
                          <a:solidFill>
                            <a:srgbClr val="FFFFFF"/>
                          </a:solidFill>
                          <a:latin typeface="Calibri"/>
                        </a:rPr>
                        <a:t>Step</a:t>
                      </a:r>
                    </a:p>
                  </a:txBody>
                  <a:tcPr>
                    <a:solidFill>
                      <a:srgbClr val="0F172A"/>
                    </a:solidFill>
                  </a:tcPr>
                </a:tc>
                <a:tc>
                  <a:txBody>
                    <a:bodyPr/>
                    <a:lstStyle/>
                    <a:p>
                      <a:r>
                        <a:rPr sz="1300" b="1">
                          <a:solidFill>
                            <a:srgbClr val="FFFFFF"/>
                          </a:solidFill>
                          <a:latin typeface="Calibri"/>
                        </a:rPr>
                        <a:t>What we do</a:t>
                      </a:r>
                    </a:p>
                  </a:txBody>
                  <a:tcPr>
                    <a:solidFill>
                      <a:srgbClr val="0F172A"/>
                    </a:solidFill>
                  </a:tcPr>
                </a:tc>
                <a:tc>
                  <a:txBody>
                    <a:bodyPr/>
                    <a:lstStyle/>
                    <a:p>
                      <a:r>
                        <a:rPr sz="1300" b="1">
                          <a:solidFill>
                            <a:srgbClr val="FFFFFF"/>
                          </a:solidFill>
                          <a:latin typeface="Calibri"/>
                        </a:rPr>
                        <a:t>Why</a:t>
                      </a:r>
                    </a:p>
                  </a:txBody>
                  <a:tcPr>
                    <a:solidFill>
                      <a:srgbClr val="0F172A"/>
                    </a:solidFill>
                  </a:tcPr>
                </a:tc>
              </a:tr>
              <a:tr h="670560">
                <a:tc>
                  <a:txBody>
                    <a:bodyPr/>
                    <a:lstStyle/>
                    <a:p>
                      <a:r>
                        <a:rPr sz="1300" b="1">
                          <a:solidFill>
                            <a:srgbClr val="0F172A"/>
                          </a:solidFill>
                          <a:latin typeface="Calibri"/>
                        </a:rPr>
                        <a:t>1. Drop ID</a:t>
                      </a:r>
                    </a:p>
                  </a:txBody>
                  <a:tcPr>
                    <a:solidFill>
                      <a:srgbClr val="FFFFFF"/>
                    </a:solidFill>
                  </a:tcPr>
                </a:tc>
                <a:tc>
                  <a:txBody>
                    <a:bodyPr/>
                    <a:lstStyle/>
                    <a:p>
                      <a:r>
                        <a:rPr sz="1300" b="0">
                          <a:solidFill>
                            <a:srgbClr val="334155"/>
                          </a:solidFill>
                          <a:latin typeface="Calibri"/>
                        </a:rPr>
                        <a:t>Remove the row number</a:t>
                      </a:r>
                    </a:p>
                  </a:txBody>
                  <a:tcPr>
                    <a:solidFill>
                      <a:srgbClr val="FFFFFF"/>
                    </a:solidFill>
                  </a:tcPr>
                </a:tc>
                <a:tc>
                  <a:txBody>
                    <a:bodyPr/>
                    <a:lstStyle/>
                    <a:p>
                      <a:r>
                        <a:rPr sz="1300" b="0">
                          <a:solidFill>
                            <a:srgbClr val="334155"/>
                          </a:solidFill>
                          <a:latin typeface="Calibri"/>
                        </a:rPr>
                        <a:t>It has no link to salary</a:t>
                      </a:r>
                    </a:p>
                  </a:txBody>
                  <a:tcPr>
                    <a:solidFill>
                      <a:srgbClr val="FFFFFF"/>
                    </a:solidFill>
                  </a:tcPr>
                </a:tc>
              </a:tr>
              <a:tr h="670560">
                <a:tc>
                  <a:txBody>
                    <a:bodyPr/>
                    <a:lstStyle/>
                    <a:p>
                      <a:r>
                        <a:rPr sz="1300" b="1">
                          <a:solidFill>
                            <a:srgbClr val="0F172A"/>
                          </a:solidFill>
                          <a:latin typeface="Calibri"/>
                        </a:rPr>
                        <a:t>2. Education</a:t>
                      </a:r>
                    </a:p>
                  </a:txBody>
                  <a:tcPr>
                    <a:solidFill>
                      <a:srgbClr val="F1F5F9"/>
                    </a:solidFill>
                  </a:tcPr>
                </a:tc>
                <a:tc>
                  <a:txBody>
                    <a:bodyPr/>
                    <a:lstStyle/>
                    <a:p>
                      <a:r>
                        <a:rPr sz="1300" b="0">
                          <a:solidFill>
                            <a:srgbClr val="334155"/>
                          </a:solidFill>
                          <a:latin typeface="Calibri"/>
                        </a:rPr>
                        <a:t>Bachelors = 0, Masters = 1, PhD = 2</a:t>
                      </a:r>
                    </a:p>
                  </a:txBody>
                  <a:tcPr>
                    <a:solidFill>
                      <a:srgbClr val="F1F5F9"/>
                    </a:solidFill>
                  </a:tcPr>
                </a:tc>
                <a:tc>
                  <a:txBody>
                    <a:bodyPr/>
                    <a:lstStyle/>
                    <a:p>
                      <a:r>
                        <a:rPr sz="1300" b="0">
                          <a:solidFill>
                            <a:srgbClr val="334155"/>
                          </a:solidFill>
                          <a:latin typeface="Calibri"/>
                        </a:rPr>
                        <a:t>Keeps the natural order of degrees</a:t>
                      </a:r>
                    </a:p>
                  </a:txBody>
                  <a:tcPr>
                    <a:solidFill>
                      <a:srgbClr val="F1F5F9"/>
                    </a:solidFill>
                  </a:tcPr>
                </a:tc>
              </a:tr>
              <a:tr h="670560">
                <a:tc>
                  <a:txBody>
                    <a:bodyPr/>
                    <a:lstStyle/>
                    <a:p>
                      <a:r>
                        <a:rPr sz="1300" b="1">
                          <a:solidFill>
                            <a:srgbClr val="0F172A"/>
                          </a:solidFill>
                          <a:latin typeface="Calibri"/>
                        </a:rPr>
                        <a:t>3. Remote Work</a:t>
                      </a:r>
                    </a:p>
                  </a:txBody>
                  <a:tcPr>
                    <a:solidFill>
                      <a:srgbClr val="FFFFFF"/>
                    </a:solidFill>
                  </a:tcPr>
                </a:tc>
                <a:tc>
                  <a:txBody>
                    <a:bodyPr/>
                    <a:lstStyle/>
                    <a:p>
                      <a:r>
                        <a:rPr sz="1300" b="0">
                          <a:solidFill>
                            <a:srgbClr val="334155"/>
                          </a:solidFill>
                          <a:latin typeface="Calibri"/>
                        </a:rPr>
                        <a:t>Turn Yes / No / Hybrid into three 0-or-1 columns</a:t>
                      </a:r>
                    </a:p>
                  </a:txBody>
                  <a:tcPr>
                    <a:solidFill>
                      <a:srgbClr val="FFFFFF"/>
                    </a:solidFill>
                  </a:tcPr>
                </a:tc>
                <a:tc>
                  <a:txBody>
                    <a:bodyPr/>
                    <a:lstStyle/>
                    <a:p>
                      <a:r>
                        <a:rPr sz="1300" b="0">
                          <a:solidFill>
                            <a:srgbClr val="334155"/>
                          </a:solidFill>
                          <a:latin typeface="Calibri"/>
                        </a:rPr>
                        <a:t>These options have no natural order</a:t>
                      </a:r>
                    </a:p>
                  </a:txBody>
                  <a:tcPr>
                    <a:solidFill>
                      <a:srgbClr val="FFFFFF"/>
                    </a:solidFill>
                  </a:tcPr>
                </a:tc>
              </a:tr>
              <a:tr h="670560">
                <a:tc>
                  <a:txBody>
                    <a:bodyPr/>
                    <a:lstStyle/>
                    <a:p>
                      <a:r>
                        <a:rPr sz="1300" b="1">
                          <a:solidFill>
                            <a:srgbClr val="0F172A"/>
                          </a:solidFill>
                          <a:latin typeface="Calibri"/>
                        </a:rPr>
                        <a:t>4. Text columns</a:t>
                      </a:r>
                    </a:p>
                  </a:txBody>
                  <a:tcPr>
                    <a:solidFill>
                      <a:srgbClr val="F1F5F9"/>
                    </a:solidFill>
                  </a:tcPr>
                </a:tc>
                <a:tc>
                  <a:txBody>
                    <a:bodyPr/>
                    <a:lstStyle/>
                    <a:p>
                      <a:r>
                        <a:rPr sz="1300" b="0">
                          <a:solidFill>
                            <a:srgbClr val="334155"/>
                          </a:solidFill>
                          <a:latin typeface="Calibri"/>
                        </a:rPr>
                        <a:t>Job Title, Industry, Company, Location, Certification get a number each (LabelEncoder)</a:t>
                      </a:r>
                    </a:p>
                  </a:txBody>
                  <a:tcPr>
                    <a:solidFill>
                      <a:srgbClr val="F1F5F9"/>
                    </a:solidFill>
                  </a:tcPr>
                </a:tc>
                <a:tc>
                  <a:txBody>
                    <a:bodyPr/>
                    <a:lstStyle/>
                    <a:p>
                      <a:r>
                        <a:rPr sz="1300" b="0">
                          <a:solidFill>
                            <a:srgbClr val="334155"/>
                          </a:solidFill>
                          <a:latin typeface="Calibri"/>
                        </a:rPr>
                        <a:t>Models need numbers. Note: this order is arbitrary (see limitations)</a:t>
                      </a:r>
                    </a:p>
                  </a:txBody>
                  <a:tcPr>
                    <a:solidFill>
                      <a:srgbClr val="F1F5F9"/>
                    </a:solidFill>
                  </a:tcPr>
                </a:tc>
              </a:tr>
              <a:tr h="670560">
                <a:tc>
                  <a:txBody>
                    <a:bodyPr/>
                    <a:lstStyle/>
                    <a:p>
                      <a:r>
                        <a:rPr sz="1300" b="1">
                          <a:solidFill>
                            <a:srgbClr val="0F172A"/>
                          </a:solidFill>
                          <a:latin typeface="Calibri"/>
                        </a:rPr>
                        <a:t>5. Scale numbers</a:t>
                      </a:r>
                    </a:p>
                  </a:txBody>
                  <a:tcPr>
                    <a:solidFill>
                      <a:srgbClr val="FFFFFF"/>
                    </a:solidFill>
                  </a:tcPr>
                </a:tc>
                <a:tc>
                  <a:txBody>
                    <a:bodyPr/>
                    <a:lstStyle/>
                    <a:p>
                      <a:r>
                        <a:rPr sz="1300" b="0">
                          <a:solidFill>
                            <a:srgbClr val="334155"/>
                          </a:solidFill>
                          <a:latin typeface="Calibri"/>
                        </a:rPr>
                        <a:t>Put numbers on a similar range (linear model only)</a:t>
                      </a:r>
                    </a:p>
                  </a:txBody>
                  <a:tcPr>
                    <a:solidFill>
                      <a:srgbClr val="FFFFFF"/>
                    </a:solidFill>
                  </a:tcPr>
                </a:tc>
                <a:tc>
                  <a:txBody>
                    <a:bodyPr/>
                    <a:lstStyle/>
                    <a:p>
                      <a:r>
                        <a:rPr sz="1300" b="0">
                          <a:solidFill>
                            <a:srgbClr val="334155"/>
                          </a:solidFill>
                          <a:latin typeface="Calibri"/>
                        </a:rPr>
                        <a:t>Helps the straight-line model work well</a:t>
                      </a:r>
                    </a:p>
                  </a:txBody>
                  <a:tcPr>
                    <a:solidFill>
                      <a:srgbClr val="FFFFFF"/>
                    </a:solidFill>
                  </a:tcPr>
                </a:tc>
              </a:tr>
            </a:tbl>
          </a:graphicData>
        </a:graphic>
      </p:graphicFrame>
      <p:sp>
        <p:nvSpPr>
          <p:cNvPr id="12" name="TextBox 11"/>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3" name="TextBox 12"/>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Four models, four ways to learn</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Same data, same split. Each model learns the pattern differently.</a:t>
            </a:r>
          </a:p>
        </p:txBody>
      </p:sp>
      <p:sp>
        <p:nvSpPr>
          <p:cNvPr id="11" name="Rounded Rectangle 10"/>
          <p:cNvSpPr/>
          <p:nvPr/>
        </p:nvSpPr>
        <p:spPr>
          <a:xfrm>
            <a:off x="548640" y="1965960"/>
            <a:ext cx="2606040" cy="352044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800"/>
              </a:spcAft>
            </a:pPr>
            <a:r>
              <a:rPr sz="1700" b="1">
                <a:solidFill>
                  <a:srgbClr val="6366F1"/>
                </a:solidFill>
                <a:latin typeface="Calibri"/>
              </a:rPr>
              <a:t>Linear Regression</a:t>
            </a:r>
          </a:p>
          <a:p>
            <a:pPr algn="l">
              <a:spcAft>
                <a:spcPts val="1000"/>
              </a:spcAft>
            </a:pPr>
            <a:r>
              <a:rPr sz="1300" b="0">
                <a:solidFill>
                  <a:srgbClr val="334155"/>
                </a:solidFill>
                <a:latin typeface="Calibri"/>
              </a:rPr>
              <a:t>Draws one straight line through the data. Fast and simple. The baseline everyone compares against.</a:t>
            </a:r>
          </a:p>
          <a:p>
            <a:pPr algn="l">
              <a:spcAft>
                <a:spcPts val="0"/>
              </a:spcAft>
            </a:pPr>
            <a:r>
              <a:rPr sz="1200" b="1">
                <a:solidFill>
                  <a:srgbClr val="64748B"/>
                </a:solidFill>
                <a:latin typeface="Calibri"/>
              </a:rPr>
              <a:t>Analogy: a ruler</a:t>
            </a:r>
          </a:p>
        </p:txBody>
      </p:sp>
      <p:sp>
        <p:nvSpPr>
          <p:cNvPr id="12" name="Rounded Rectangle 11"/>
          <p:cNvSpPr/>
          <p:nvPr/>
        </p:nvSpPr>
        <p:spPr>
          <a:xfrm>
            <a:off x="548640" y="1965960"/>
            <a:ext cx="2606040" cy="109728"/>
          </a:xfrm>
          <a:prstGeom prst="roundRect">
            <a:avLst>
              <a:gd name="adj" fmla="val 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1965960"/>
            <a:ext cx="2606040" cy="352044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800"/>
              </a:spcAft>
            </a:pPr>
            <a:r>
              <a:rPr sz="1700" b="1">
                <a:solidFill>
                  <a:srgbClr val="14B8A6"/>
                </a:solidFill>
                <a:latin typeface="Calibri"/>
              </a:rPr>
              <a:t>Decision Tree</a:t>
            </a:r>
          </a:p>
          <a:p>
            <a:pPr algn="l">
              <a:spcAft>
                <a:spcPts val="1000"/>
              </a:spcAft>
            </a:pPr>
            <a:r>
              <a:rPr sz="1300" b="0">
                <a:solidFill>
                  <a:srgbClr val="334155"/>
                </a:solidFill>
                <a:latin typeface="Calibri"/>
              </a:rPr>
              <a:t>Asks a chain of yes/no questions such as 'Is experience above 10 years?'</a:t>
            </a:r>
          </a:p>
          <a:p>
            <a:pPr algn="l">
              <a:spcAft>
                <a:spcPts val="0"/>
              </a:spcAft>
            </a:pPr>
            <a:r>
              <a:rPr sz="1200" b="1">
                <a:solidFill>
                  <a:srgbClr val="64748B"/>
                </a:solidFill>
                <a:latin typeface="Calibri"/>
              </a:rPr>
              <a:t>Analogy: a flowchart</a:t>
            </a:r>
          </a:p>
        </p:txBody>
      </p:sp>
      <p:sp>
        <p:nvSpPr>
          <p:cNvPr id="14" name="Rounded Rectangle 13"/>
          <p:cNvSpPr/>
          <p:nvPr/>
        </p:nvSpPr>
        <p:spPr>
          <a:xfrm>
            <a:off x="3337560" y="1965960"/>
            <a:ext cx="2606040" cy="109728"/>
          </a:xfrm>
          <a:prstGeom prst="roundRect">
            <a:avLst>
              <a:gd name="adj" fmla="val 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26479" y="1965960"/>
            <a:ext cx="2606040" cy="352044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800"/>
              </a:spcAft>
            </a:pPr>
            <a:r>
              <a:rPr sz="1700" b="1">
                <a:solidFill>
                  <a:srgbClr val="A78BFA"/>
                </a:solidFill>
                <a:latin typeface="Calibri"/>
              </a:rPr>
              <a:t>Random Forest</a:t>
            </a:r>
          </a:p>
          <a:p>
            <a:pPr algn="l">
              <a:spcAft>
                <a:spcPts val="1000"/>
              </a:spcAft>
            </a:pPr>
            <a:r>
              <a:rPr sz="1300" b="0">
                <a:solidFill>
                  <a:srgbClr val="334155"/>
                </a:solidFill>
                <a:latin typeface="Calibri"/>
              </a:rPr>
              <a:t>300 trees are each trained on a random part of the data, then their answers are averaged.</a:t>
            </a:r>
          </a:p>
          <a:p>
            <a:pPr algn="l">
              <a:spcAft>
                <a:spcPts val="0"/>
              </a:spcAft>
            </a:pPr>
            <a:r>
              <a:rPr sz="1200" b="1">
                <a:solidFill>
                  <a:srgbClr val="64748B"/>
                </a:solidFill>
                <a:latin typeface="Calibri"/>
              </a:rPr>
              <a:t>Analogy: asking 300 experts and averaging</a:t>
            </a:r>
          </a:p>
        </p:txBody>
      </p:sp>
      <p:sp>
        <p:nvSpPr>
          <p:cNvPr id="16" name="Rounded Rectangle 15"/>
          <p:cNvSpPr/>
          <p:nvPr/>
        </p:nvSpPr>
        <p:spPr>
          <a:xfrm>
            <a:off x="6126479" y="1965960"/>
            <a:ext cx="2606040" cy="109728"/>
          </a:xfrm>
          <a:prstGeom prst="roundRect">
            <a:avLst>
              <a:gd name="adj" fmla="val 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15399" y="1965960"/>
            <a:ext cx="2606040" cy="352044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800"/>
              </a:spcAft>
            </a:pPr>
            <a:r>
              <a:rPr sz="1700" b="1">
                <a:solidFill>
                  <a:srgbClr val="F59E0B"/>
                </a:solidFill>
                <a:latin typeface="Calibri"/>
              </a:rPr>
              <a:t>Gradient Boosting</a:t>
            </a:r>
          </a:p>
          <a:p>
            <a:pPr algn="l">
              <a:spcAft>
                <a:spcPts val="1000"/>
              </a:spcAft>
            </a:pPr>
            <a:r>
              <a:rPr sz="1300" b="0">
                <a:solidFill>
                  <a:srgbClr val="334155"/>
                </a:solidFill>
                <a:latin typeface="Calibri"/>
              </a:rPr>
              <a:t>Trees are built one after another; each new tree fixes the mistakes of the previous ones.</a:t>
            </a:r>
          </a:p>
          <a:p>
            <a:pPr algn="l">
              <a:spcAft>
                <a:spcPts val="0"/>
              </a:spcAft>
            </a:pPr>
            <a:r>
              <a:rPr sz="1200" b="1">
                <a:solidFill>
                  <a:srgbClr val="64748B"/>
                </a:solidFill>
                <a:latin typeface="Calibri"/>
              </a:rPr>
              <a:t>Analogy: correcting your own homework again and again</a:t>
            </a:r>
          </a:p>
        </p:txBody>
      </p:sp>
      <p:sp>
        <p:nvSpPr>
          <p:cNvPr id="18" name="Rounded Rectangle 17"/>
          <p:cNvSpPr/>
          <p:nvPr/>
        </p:nvSpPr>
        <p:spPr>
          <a:xfrm>
            <a:off x="8915399" y="1965960"/>
            <a:ext cx="2606040" cy="109728"/>
          </a:xfrm>
          <a:prstGeom prst="roundRect">
            <a:avLst>
              <a:gd name="adj" fmla="val 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5669280"/>
            <a:ext cx="11064240" cy="566928"/>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a:solidFill>
                  <a:srgbClr val="FFFFFF"/>
                </a:solidFill>
                <a:latin typeface="Calibri"/>
              </a:rPr>
              <a:t>Train/test split:  400 jobs to learn from  •  100 jobs hidden for testing  (80/20, random_state = 42)</a:t>
            </a:r>
          </a:p>
        </p:txBody>
      </p:sp>
      <p:sp>
        <p:nvSpPr>
          <p:cNvPr id="20" name="TextBox 19"/>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21" name="TextBox 20"/>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Quiz</a:t>
            </a:r>
          </a:p>
        </p:txBody>
      </p:sp>
      <p:sp>
        <p:nvSpPr>
          <p:cNvPr id="9" name="TextBox 8"/>
          <p:cNvSpPr txBox="1"/>
          <p:nvPr/>
        </p:nvSpPr>
        <p:spPr>
          <a:xfrm>
            <a:off x="822960" y="2011680"/>
            <a:ext cx="5486400" cy="1463040"/>
          </a:xfrm>
          <a:prstGeom prst="rect">
            <a:avLst/>
          </a:prstGeom>
          <a:noFill/>
        </p:spPr>
        <p:txBody>
          <a:bodyPr wrap="square" anchor="t" lIns="73152" rIns="73152" tIns="73152" bIns="73152">
            <a:spAutoFit/>
          </a:bodyPr>
          <a:lstStyle/>
          <a:p>
            <a:pPr algn="l">
              <a:spcAft>
                <a:spcPts val="400"/>
              </a:spcAft>
            </a:pPr>
            <a:r>
              <a:rPr sz="9600" b="1">
                <a:solidFill>
                  <a:srgbClr val="F43F5E"/>
                </a:solidFill>
                <a:latin typeface="Calibri"/>
              </a:rPr>
              <a:t>05</a:t>
            </a:r>
          </a:p>
        </p:txBody>
      </p:sp>
      <p:sp>
        <p:nvSpPr>
          <p:cNvPr id="10" name="TextBox 9"/>
          <p:cNvSpPr txBox="1"/>
          <p:nvPr/>
        </p:nvSpPr>
        <p:spPr>
          <a:xfrm>
            <a:off x="822960" y="3566160"/>
            <a:ext cx="10058400" cy="822960"/>
          </a:xfrm>
          <a:prstGeom prst="rect">
            <a:avLst/>
          </a:prstGeom>
          <a:noFill/>
        </p:spPr>
        <p:txBody>
          <a:bodyPr wrap="square" anchor="t" lIns="73152" rIns="73152" tIns="73152" bIns="73152">
            <a:spAutoFit/>
          </a:bodyPr>
          <a:lstStyle/>
          <a:p>
            <a:pPr algn="l">
              <a:spcAft>
                <a:spcPts val="400"/>
              </a:spcAft>
            </a:pPr>
            <a:r>
              <a:rPr sz="4000" b="1">
                <a:solidFill>
                  <a:srgbClr val="FFFFFF"/>
                </a:solidFill>
                <a:latin typeface="Calibri"/>
              </a:rPr>
              <a:t>Results &amp; Takeaways</a:t>
            </a:r>
          </a:p>
        </p:txBody>
      </p:sp>
      <p:sp>
        <p:nvSpPr>
          <p:cNvPr id="11" name="TextBox 10"/>
          <p:cNvSpPr txBox="1"/>
          <p:nvPr/>
        </p:nvSpPr>
        <p:spPr>
          <a:xfrm>
            <a:off x="822960" y="4434840"/>
            <a:ext cx="9601200" cy="731520"/>
          </a:xfrm>
          <a:prstGeom prst="rect">
            <a:avLst/>
          </a:prstGeom>
          <a:noFill/>
        </p:spPr>
        <p:txBody>
          <a:bodyPr wrap="square" anchor="t" lIns="73152" rIns="73152" tIns="73152" bIns="73152">
            <a:spAutoFit/>
          </a:bodyPr>
          <a:lstStyle/>
          <a:p>
            <a:pPr algn="l">
              <a:spcAft>
                <a:spcPts val="400"/>
              </a:spcAft>
            </a:pPr>
            <a:r>
              <a:rPr sz="1800" b="0">
                <a:solidFill>
                  <a:srgbClr val="94A3B8"/>
                </a:solidFill>
                <a:latin typeface="Calibri"/>
              </a:rPr>
              <a:t>Which model predicts best, how big the errors are, and what we learned.</a:t>
            </a:r>
          </a:p>
        </p:txBody>
      </p:sp>
      <p:sp>
        <p:nvSpPr>
          <p:cNvPr id="12" name="Rounded Rectangle 11">
            <a:hlinkClick action="ppaction://hlinksldjump" r:id="rId2"/>
          </p:cNvPr>
          <p:cNvSpPr/>
          <p:nvPr/>
        </p:nvSpPr>
        <p:spPr>
          <a:xfrm>
            <a:off x="822960" y="5394960"/>
            <a:ext cx="2377440" cy="457200"/>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200" b="1">
                <a:solidFill>
                  <a:srgbClr val="FFFFFF"/>
                </a:solidFill>
                <a:latin typeface="Calibri"/>
              </a:rPr>
              <a:t>← Back to agenda</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Which model predicts best?</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Higher R² and lower errors are better. Gradient Boosting wins on every measure.</a:t>
            </a:r>
          </a:p>
        </p:txBody>
      </p:sp>
      <p:graphicFrame>
        <p:nvGraphicFramePr>
          <p:cNvPr id="11" name="Chart 10"/>
          <p:cNvGraphicFramePr>
            <a:graphicFrameLocks noGrp="1"/>
          </p:cNvGraphicFramePr>
          <p:nvPr/>
        </p:nvGraphicFramePr>
        <p:xfrm>
          <a:off x="457200" y="1874519"/>
          <a:ext cx="5669280" cy="4434840"/>
        </p:xfrm>
        <a:graphic>
          <a:graphicData uri="http://schemas.openxmlformats.org/drawingml/2006/chart">
            <c:chart xmlns:c="http://schemas.openxmlformats.org/drawingml/2006/chart" r:id="rId9"/>
          </a:graphicData>
        </a:graphic>
      </p:graphicFrame>
      <p:graphicFrame>
        <p:nvGraphicFramePr>
          <p:cNvPr id="12" name="Table 11"/>
          <p:cNvGraphicFramePr>
            <a:graphicFrameLocks noGrp="1"/>
          </p:cNvGraphicFramePr>
          <p:nvPr/>
        </p:nvGraphicFramePr>
        <p:xfrm>
          <a:off x="6400800" y="1965960"/>
          <a:ext cx="5166360" cy="2651760"/>
        </p:xfrm>
        <a:graphic>
          <a:graphicData uri="http://schemas.openxmlformats.org/drawingml/2006/table">
            <a:tbl>
              <a:tblPr firstRow="1" bandRow="1">
                <a:tableStyleId>{5C22544A-7EE6-4342-B048-85BDC9FD1C3A}</a:tableStyleId>
              </a:tblPr>
              <a:tblGrid>
                <a:gridCol w="2148840"/>
                <a:gridCol w="1005840"/>
                <a:gridCol w="1005840"/>
                <a:gridCol w="1005840"/>
              </a:tblGrid>
              <a:tr h="530352">
                <a:tc>
                  <a:txBody>
                    <a:bodyPr/>
                    <a:lstStyle/>
                    <a:p>
                      <a:r>
                        <a:rPr b="1" sz="1300">
                          <a:solidFill>
                            <a:srgbClr val="FFFFFF"/>
                          </a:solidFill>
                          <a:latin typeface="Calibri"/>
                        </a:rPr>
                        <a:t>Model</a:t>
                      </a:r>
                    </a:p>
                  </a:txBody>
                  <a:tcPr>
                    <a:solidFill>
                      <a:srgbClr val="0F172A"/>
                    </a:solidFill>
                  </a:tcPr>
                </a:tc>
                <a:tc>
                  <a:txBody>
                    <a:bodyPr/>
                    <a:lstStyle/>
                    <a:p>
                      <a:r>
                        <a:rPr b="1" sz="1300">
                          <a:solidFill>
                            <a:srgbClr val="FFFFFF"/>
                          </a:solidFill>
                          <a:latin typeface="Calibri"/>
                        </a:rPr>
                        <a:t>R²</a:t>
                      </a:r>
                    </a:p>
                  </a:txBody>
                  <a:tcPr>
                    <a:solidFill>
                      <a:srgbClr val="0F172A"/>
                    </a:solidFill>
                  </a:tcPr>
                </a:tc>
                <a:tc>
                  <a:txBody>
                    <a:bodyPr/>
                    <a:lstStyle/>
                    <a:p>
                      <a:r>
                        <a:rPr b="1" sz="1300">
                          <a:solidFill>
                            <a:srgbClr val="FFFFFF"/>
                          </a:solidFill>
                          <a:latin typeface="Calibri"/>
                        </a:rPr>
                        <a:t>MAE</a:t>
                      </a:r>
                    </a:p>
                  </a:txBody>
                  <a:tcPr>
                    <a:solidFill>
                      <a:srgbClr val="0F172A"/>
                    </a:solidFill>
                  </a:tcPr>
                </a:tc>
                <a:tc>
                  <a:txBody>
                    <a:bodyPr/>
                    <a:lstStyle/>
                    <a:p>
                      <a:r>
                        <a:rPr b="1" sz="1300">
                          <a:solidFill>
                            <a:srgbClr val="FFFFFF"/>
                          </a:solidFill>
                          <a:latin typeface="Calibri"/>
                        </a:rPr>
                        <a:t>RMSE</a:t>
                      </a:r>
                    </a:p>
                  </a:txBody>
                  <a:tcPr>
                    <a:solidFill>
                      <a:srgbClr val="0F172A"/>
                    </a:solidFill>
                  </a:tcPr>
                </a:tc>
              </a:tr>
              <a:tr h="530352">
                <a:tc>
                  <a:txBody>
                    <a:bodyPr/>
                    <a:lstStyle/>
                    <a:p>
                      <a:r>
                        <a:rPr sz="1300" b="0">
                          <a:solidFill>
                            <a:srgbClr val="0F172A"/>
                          </a:solidFill>
                          <a:latin typeface="Calibri"/>
                        </a:rPr>
                        <a:t>Linear Regression</a:t>
                      </a:r>
                    </a:p>
                  </a:txBody>
                  <a:tcPr>
                    <a:solidFill>
                      <a:srgbClr val="FFFFFF"/>
                    </a:solidFill>
                  </a:tcPr>
                </a:tc>
                <a:tc>
                  <a:txBody>
                    <a:bodyPr/>
                    <a:lstStyle/>
                    <a:p>
                      <a:r>
                        <a:rPr sz="1300" b="0">
                          <a:solidFill>
                            <a:srgbClr val="0F172A"/>
                          </a:solidFill>
                          <a:latin typeface="Calibri"/>
                        </a:rPr>
                        <a:t>0.277</a:t>
                      </a:r>
                    </a:p>
                  </a:txBody>
                  <a:tcPr>
                    <a:solidFill>
                      <a:srgbClr val="FFFFFF"/>
                    </a:solidFill>
                  </a:tcPr>
                </a:tc>
                <a:tc>
                  <a:txBody>
                    <a:bodyPr/>
                    <a:lstStyle/>
                    <a:p>
                      <a:r>
                        <a:rPr sz="1300" b="0">
                          <a:solidFill>
                            <a:srgbClr val="0F172A"/>
                          </a:solidFill>
                          <a:latin typeface="Calibri"/>
                        </a:rPr>
                        <a:t>$36,749</a:t>
                      </a:r>
                    </a:p>
                  </a:txBody>
                  <a:tcPr>
                    <a:solidFill>
                      <a:srgbClr val="FFFFFF"/>
                    </a:solidFill>
                  </a:tcPr>
                </a:tc>
                <a:tc>
                  <a:txBody>
                    <a:bodyPr/>
                    <a:lstStyle/>
                    <a:p>
                      <a:r>
                        <a:rPr sz="1300" b="0">
                          <a:solidFill>
                            <a:srgbClr val="0F172A"/>
                          </a:solidFill>
                          <a:latin typeface="Calibri"/>
                        </a:rPr>
                        <a:t>$42,274</a:t>
                      </a:r>
                    </a:p>
                  </a:txBody>
                  <a:tcPr>
                    <a:solidFill>
                      <a:srgbClr val="FFFFFF"/>
                    </a:solidFill>
                  </a:tcPr>
                </a:tc>
              </a:tr>
              <a:tr h="530352">
                <a:tc>
                  <a:txBody>
                    <a:bodyPr/>
                    <a:lstStyle/>
                    <a:p>
                      <a:r>
                        <a:rPr sz="1300" b="0">
                          <a:solidFill>
                            <a:srgbClr val="0F172A"/>
                          </a:solidFill>
                          <a:latin typeface="Calibri"/>
                        </a:rPr>
                        <a:t>Decision Tree</a:t>
                      </a:r>
                    </a:p>
                  </a:txBody>
                  <a:tcPr>
                    <a:solidFill>
                      <a:srgbClr val="FFFFFF"/>
                    </a:solidFill>
                  </a:tcPr>
                </a:tc>
                <a:tc>
                  <a:txBody>
                    <a:bodyPr/>
                    <a:lstStyle/>
                    <a:p>
                      <a:r>
                        <a:rPr sz="1300" b="0">
                          <a:solidFill>
                            <a:srgbClr val="0F172A"/>
                          </a:solidFill>
                          <a:latin typeface="Calibri"/>
                        </a:rPr>
                        <a:t>0.828</a:t>
                      </a:r>
                    </a:p>
                  </a:txBody>
                  <a:tcPr>
                    <a:solidFill>
                      <a:srgbClr val="FFFFFF"/>
                    </a:solidFill>
                  </a:tcPr>
                </a:tc>
                <a:tc>
                  <a:txBody>
                    <a:bodyPr/>
                    <a:lstStyle/>
                    <a:p>
                      <a:r>
                        <a:rPr sz="1300" b="0">
                          <a:solidFill>
                            <a:srgbClr val="0F172A"/>
                          </a:solidFill>
                          <a:latin typeface="Calibri"/>
                        </a:rPr>
                        <a:t>$14,212</a:t>
                      </a:r>
                    </a:p>
                  </a:txBody>
                  <a:tcPr>
                    <a:solidFill>
                      <a:srgbClr val="FFFFFF"/>
                    </a:solidFill>
                  </a:tcPr>
                </a:tc>
                <a:tc>
                  <a:txBody>
                    <a:bodyPr/>
                    <a:lstStyle/>
                    <a:p>
                      <a:r>
                        <a:rPr sz="1300" b="0">
                          <a:solidFill>
                            <a:srgbClr val="0F172A"/>
                          </a:solidFill>
                          <a:latin typeface="Calibri"/>
                        </a:rPr>
                        <a:t>$20,621</a:t>
                      </a:r>
                    </a:p>
                  </a:txBody>
                  <a:tcPr>
                    <a:solidFill>
                      <a:srgbClr val="FFFFFF"/>
                    </a:solidFill>
                  </a:tcPr>
                </a:tc>
              </a:tr>
              <a:tr h="530352">
                <a:tc>
                  <a:txBody>
                    <a:bodyPr/>
                    <a:lstStyle/>
                    <a:p>
                      <a:r>
                        <a:rPr sz="1300" b="0">
                          <a:solidFill>
                            <a:srgbClr val="0F172A"/>
                          </a:solidFill>
                          <a:latin typeface="Calibri"/>
                        </a:rPr>
                        <a:t>Random Forest</a:t>
                      </a:r>
                    </a:p>
                  </a:txBody>
                  <a:tcPr>
                    <a:solidFill>
                      <a:srgbClr val="FFFFFF"/>
                    </a:solidFill>
                  </a:tcPr>
                </a:tc>
                <a:tc>
                  <a:txBody>
                    <a:bodyPr/>
                    <a:lstStyle/>
                    <a:p>
                      <a:r>
                        <a:rPr sz="1300" b="0">
                          <a:solidFill>
                            <a:srgbClr val="0F172A"/>
                          </a:solidFill>
                          <a:latin typeface="Calibri"/>
                        </a:rPr>
                        <a:t>0.853</a:t>
                      </a:r>
                    </a:p>
                  </a:txBody>
                  <a:tcPr>
                    <a:solidFill>
                      <a:srgbClr val="FFFFFF"/>
                    </a:solidFill>
                  </a:tcPr>
                </a:tc>
                <a:tc>
                  <a:txBody>
                    <a:bodyPr/>
                    <a:lstStyle/>
                    <a:p>
                      <a:r>
                        <a:rPr sz="1300" b="0">
                          <a:solidFill>
                            <a:srgbClr val="0F172A"/>
                          </a:solidFill>
                          <a:latin typeface="Calibri"/>
                        </a:rPr>
                        <a:t>$13,886</a:t>
                      </a:r>
                    </a:p>
                  </a:txBody>
                  <a:tcPr>
                    <a:solidFill>
                      <a:srgbClr val="FFFFFF"/>
                    </a:solidFill>
                  </a:tcPr>
                </a:tc>
                <a:tc>
                  <a:txBody>
                    <a:bodyPr/>
                    <a:lstStyle/>
                    <a:p>
                      <a:r>
                        <a:rPr sz="1300" b="0">
                          <a:solidFill>
                            <a:srgbClr val="0F172A"/>
                          </a:solidFill>
                          <a:latin typeface="Calibri"/>
                        </a:rPr>
                        <a:t>$19,066</a:t>
                      </a:r>
                    </a:p>
                  </a:txBody>
                  <a:tcPr>
                    <a:solidFill>
                      <a:srgbClr val="FFFFFF"/>
                    </a:solidFill>
                  </a:tcPr>
                </a:tc>
              </a:tr>
              <a:tr h="530352">
                <a:tc>
                  <a:txBody>
                    <a:bodyPr/>
                    <a:lstStyle/>
                    <a:p>
                      <a:r>
                        <a:rPr sz="1300" b="1">
                          <a:solidFill>
                            <a:srgbClr val="0F172A"/>
                          </a:solidFill>
                          <a:latin typeface="Calibri"/>
                        </a:rPr>
                        <a:t>Gradient Boosting</a:t>
                      </a:r>
                    </a:p>
                  </a:txBody>
                  <a:tcPr>
                    <a:solidFill>
                      <a:srgbClr val="CCFBF1"/>
                    </a:solidFill>
                  </a:tcPr>
                </a:tc>
                <a:tc>
                  <a:txBody>
                    <a:bodyPr/>
                    <a:lstStyle/>
                    <a:p>
                      <a:r>
                        <a:rPr sz="1300" b="1">
                          <a:solidFill>
                            <a:srgbClr val="0F172A"/>
                          </a:solidFill>
                          <a:latin typeface="Calibri"/>
                        </a:rPr>
                        <a:t>0.935</a:t>
                      </a:r>
                    </a:p>
                  </a:txBody>
                  <a:tcPr>
                    <a:solidFill>
                      <a:srgbClr val="CCFBF1"/>
                    </a:solidFill>
                  </a:tcPr>
                </a:tc>
                <a:tc>
                  <a:txBody>
                    <a:bodyPr/>
                    <a:lstStyle/>
                    <a:p>
                      <a:r>
                        <a:rPr sz="1300" b="1">
                          <a:solidFill>
                            <a:srgbClr val="0F172A"/>
                          </a:solidFill>
                          <a:latin typeface="Calibri"/>
                        </a:rPr>
                        <a:t>$9,090</a:t>
                      </a:r>
                    </a:p>
                  </a:txBody>
                  <a:tcPr>
                    <a:solidFill>
                      <a:srgbClr val="CCFBF1"/>
                    </a:solidFill>
                  </a:tcPr>
                </a:tc>
                <a:tc>
                  <a:txBody>
                    <a:bodyPr/>
                    <a:lstStyle/>
                    <a:p>
                      <a:r>
                        <a:rPr sz="1300" b="1">
                          <a:solidFill>
                            <a:srgbClr val="0F172A"/>
                          </a:solidFill>
                          <a:latin typeface="Calibri"/>
                        </a:rPr>
                        <a:t>$12,646</a:t>
                      </a:r>
                    </a:p>
                  </a:txBody>
                  <a:tcPr>
                    <a:solidFill>
                      <a:srgbClr val="CCFBF1"/>
                    </a:solidFill>
                  </a:tcPr>
                </a:tc>
              </a:tr>
            </a:tbl>
          </a:graphicData>
        </a:graphic>
      </p:graphicFrame>
      <p:sp>
        <p:nvSpPr>
          <p:cNvPr id="13" name="Rounded Rectangle 12"/>
          <p:cNvSpPr/>
          <p:nvPr/>
        </p:nvSpPr>
        <p:spPr>
          <a:xfrm>
            <a:off x="6400800" y="4892040"/>
            <a:ext cx="5257800" cy="132588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400" b="1">
                <a:solidFill>
                  <a:srgbClr val="14B8A6"/>
                </a:solidFill>
                <a:latin typeface="Calibri"/>
              </a:rPr>
              <a:t>What do these mean?</a:t>
            </a:r>
          </a:p>
          <a:p>
            <a:pPr algn="l">
              <a:spcAft>
                <a:spcPts val="400"/>
              </a:spcAft>
            </a:pPr>
            <a:r>
              <a:rPr sz="1200" b="0">
                <a:solidFill>
                  <a:srgbClr val="334155"/>
                </a:solidFill>
                <a:latin typeface="Calibri"/>
              </a:rPr>
              <a:t>R² = how much of the salary variation the model explains (1.0 = perfect).</a:t>
            </a:r>
          </a:p>
          <a:p>
            <a:pPr algn="l">
              <a:spcAft>
                <a:spcPts val="400"/>
              </a:spcAft>
            </a:pPr>
            <a:r>
              <a:rPr sz="1200" b="0">
                <a:solidFill>
                  <a:srgbClr val="334155"/>
                </a:solidFill>
                <a:latin typeface="Calibri"/>
              </a:rPr>
              <a:t>MAE = on average, the guess is off by about $9,090.</a:t>
            </a:r>
          </a:p>
        </p:txBody>
      </p:sp>
      <p:sp>
        <p:nvSpPr>
          <p:cNvPr id="14" name="TextBox 13"/>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5" name="TextBox 14"/>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How close are the predictions?</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Left: each dot is a test job. Dots near the dashed line were predicted correctly.</a:t>
            </a:r>
          </a:p>
        </p:txBody>
      </p:sp>
      <p:pic>
        <p:nvPicPr>
          <p:cNvPr id="11" name="Picture 10" descr="c13_pred_vs_actual.png"/>
          <p:cNvPicPr>
            <a:picLocks noChangeAspect="1"/>
          </p:cNvPicPr>
          <p:nvPr/>
        </p:nvPicPr>
        <p:blipFill>
          <a:blip r:embed="rId9"/>
          <a:stretch>
            <a:fillRect/>
          </a:stretch>
        </p:blipFill>
        <p:spPr>
          <a:xfrm>
            <a:off x="888963" y="1874519"/>
            <a:ext cx="4805753" cy="4434840"/>
          </a:xfrm>
          <a:prstGeom prst="rect">
            <a:avLst/>
          </a:prstGeom>
        </p:spPr>
      </p:pic>
      <p:pic>
        <p:nvPicPr>
          <p:cNvPr id="12" name="Picture 11" descr="c14_residuals.png"/>
          <p:cNvPicPr>
            <a:picLocks noChangeAspect="1"/>
          </p:cNvPicPr>
          <p:nvPr/>
        </p:nvPicPr>
        <p:blipFill>
          <a:blip r:embed="rId10"/>
          <a:stretch>
            <a:fillRect/>
          </a:stretch>
        </p:blipFill>
        <p:spPr>
          <a:xfrm>
            <a:off x="6309360" y="1966192"/>
            <a:ext cx="5486400" cy="3017055"/>
          </a:xfrm>
          <a:prstGeom prst="rect">
            <a:avLst/>
          </a:prstGeom>
        </p:spPr>
      </p:pic>
      <p:sp>
        <p:nvSpPr>
          <p:cNvPr id="13" name="TextBox 12"/>
          <p:cNvSpPr txBox="1"/>
          <p:nvPr/>
        </p:nvSpPr>
        <p:spPr>
          <a:xfrm>
            <a:off x="6309360" y="5120640"/>
            <a:ext cx="5486400" cy="1188720"/>
          </a:xfrm>
          <a:prstGeom prst="rect">
            <a:avLst/>
          </a:prstGeom>
          <a:noFill/>
        </p:spPr>
        <p:txBody>
          <a:bodyPr wrap="square" anchor="t" lIns="73152" rIns="73152" tIns="73152" bIns="73152">
            <a:spAutoFit/>
          </a:bodyPr>
          <a:lstStyle/>
          <a:p>
            <a:pPr algn="l">
              <a:spcAft>
                <a:spcPts val="600"/>
              </a:spcAft>
            </a:pPr>
            <a:r>
              <a:rPr sz="1600" b="1">
                <a:solidFill>
                  <a:srgbClr val="0F172A"/>
                </a:solidFill>
                <a:latin typeface="Calibri"/>
              </a:rPr>
              <a:t>91% of the test predictions were within $20,000 of the real salary.</a:t>
            </a:r>
          </a:p>
          <a:p>
            <a:pPr algn="l">
              <a:spcAft>
                <a:spcPts val="0"/>
              </a:spcAft>
            </a:pPr>
            <a:r>
              <a:rPr sz="1300" b="0">
                <a:solidFill>
                  <a:srgbClr val="334155"/>
                </a:solidFill>
                <a:latin typeface="Calibri"/>
              </a:rPr>
              <a:t>Errors (right) are centred near zero, so the model is not systematically too high or too low.</a:t>
            </a:r>
          </a:p>
        </p:txBody>
      </p:sp>
      <p:sp>
        <p:nvSpPr>
          <p:cNvPr id="14" name="TextBox 13"/>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5" name="TextBox 14"/>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Is the result lucky? Cross-validation says no</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We repeated the test 5 times on 5 different splits of the data</a:t>
            </a:r>
          </a:p>
        </p:txBody>
      </p:sp>
      <p:graphicFrame>
        <p:nvGraphicFramePr>
          <p:cNvPr id="11" name="Chart 10"/>
          <p:cNvGraphicFramePr>
            <a:graphicFrameLocks noGrp="1"/>
          </p:cNvGraphicFramePr>
          <p:nvPr/>
        </p:nvGraphicFramePr>
        <p:xfrm>
          <a:off x="457200" y="1874519"/>
          <a:ext cx="6583680" cy="4389120"/>
        </p:xfrm>
        <a:graphic>
          <a:graphicData uri="http://schemas.openxmlformats.org/drawingml/2006/chart">
            <c:chart xmlns:c="http://schemas.openxmlformats.org/drawingml/2006/chart" r:id="rId9"/>
          </a:graphicData>
        </a:graphic>
      </p:graphicFrame>
      <p:sp>
        <p:nvSpPr>
          <p:cNvPr id="12" name="Rounded Rectangle 11"/>
          <p:cNvSpPr/>
          <p:nvPr/>
        </p:nvSpPr>
        <p:spPr>
          <a:xfrm>
            <a:off x="7315200" y="2011680"/>
            <a:ext cx="4343400" cy="13716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6366F1"/>
                </a:solidFill>
                <a:latin typeface="Calibri"/>
              </a:rPr>
              <a:t>How to read it</a:t>
            </a:r>
          </a:p>
          <a:p>
            <a:pPr algn="l">
              <a:spcAft>
                <a:spcPts val="400"/>
              </a:spcAft>
            </a:pPr>
            <a:r>
              <a:rPr sz="1300" b="0">
                <a:solidFill>
                  <a:srgbClr val="334155"/>
                </a:solidFill>
                <a:latin typeface="Calibri"/>
              </a:rPr>
              <a:t>Cross-validation shares the data into 5 parts and rotates which part is the test set.</a:t>
            </a:r>
          </a:p>
        </p:txBody>
      </p:sp>
      <p:sp>
        <p:nvSpPr>
          <p:cNvPr id="13" name="Rounded Rectangle 12"/>
          <p:cNvSpPr/>
          <p:nvPr/>
        </p:nvSpPr>
        <p:spPr>
          <a:xfrm>
            <a:off x="7315200" y="3566160"/>
            <a:ext cx="4343400" cy="13716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14B8A6"/>
                </a:solidFill>
                <a:latin typeface="Calibri"/>
              </a:rPr>
              <a:t>What we found</a:t>
            </a:r>
          </a:p>
          <a:p>
            <a:pPr algn="l">
              <a:spcAft>
                <a:spcPts val="400"/>
              </a:spcAft>
            </a:pPr>
            <a:r>
              <a:rPr sz="1300" b="0">
                <a:solidFill>
                  <a:srgbClr val="334155"/>
                </a:solidFill>
                <a:latin typeface="Calibri"/>
              </a:rPr>
              <a:t>Gradient Boosting averages R² 0.93 (± 0.009), the highest and steadiest.</a:t>
            </a:r>
          </a:p>
        </p:txBody>
      </p:sp>
      <p:sp>
        <p:nvSpPr>
          <p:cNvPr id="14" name="Rounded Rectangle 13"/>
          <p:cNvSpPr/>
          <p:nvPr/>
        </p:nvSpPr>
        <p:spPr>
          <a:xfrm>
            <a:off x="7315200" y="5120640"/>
            <a:ext cx="4343400" cy="11430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700" b="1">
                <a:solidFill>
                  <a:srgbClr val="F59E0B"/>
                </a:solidFill>
                <a:latin typeface="Calibri"/>
              </a:rPr>
              <a:t>Simple summary</a:t>
            </a:r>
          </a:p>
          <a:p>
            <a:pPr algn="l">
              <a:spcAft>
                <a:spcPts val="400"/>
              </a:spcAft>
            </a:pPr>
            <a:r>
              <a:rPr sz="1300" b="0">
                <a:solidFill>
                  <a:srgbClr val="334155"/>
                </a:solidFill>
                <a:latin typeface="Calibri"/>
              </a:rPr>
              <a:t>The winner is not a fluke of one lucky split.</a:t>
            </a:r>
          </a:p>
        </p:txBody>
      </p:sp>
      <p:sp>
        <p:nvSpPr>
          <p:cNvPr id="15" name="TextBox 14"/>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6" name="TextBox 15"/>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What does the model rely on?</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Feature importance from the Random Forest (share of its decisions)</a:t>
            </a:r>
          </a:p>
        </p:txBody>
      </p:sp>
      <p:graphicFrame>
        <p:nvGraphicFramePr>
          <p:cNvPr id="11" name="Chart 10"/>
          <p:cNvGraphicFramePr>
            <a:graphicFrameLocks noGrp="1"/>
          </p:cNvGraphicFramePr>
          <p:nvPr/>
        </p:nvGraphicFramePr>
        <p:xfrm>
          <a:off x="457200" y="1828800"/>
          <a:ext cx="6949440" cy="4572000"/>
        </p:xfrm>
        <a:graphic>
          <a:graphicData uri="http://schemas.openxmlformats.org/drawingml/2006/chart">
            <c:chart xmlns:c="http://schemas.openxmlformats.org/drawingml/2006/chart" r:id="rId9"/>
          </a:graphicData>
        </a:graphic>
      </p:graphicFrame>
      <p:sp>
        <p:nvSpPr>
          <p:cNvPr id="12" name="Rounded Rectangle 11"/>
          <p:cNvSpPr/>
          <p:nvPr/>
        </p:nvSpPr>
        <p:spPr>
          <a:xfrm>
            <a:off x="7680960" y="2011680"/>
            <a:ext cx="3977639" cy="13716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600" b="1">
                <a:solidFill>
                  <a:srgbClr val="6366F1"/>
                </a:solidFill>
                <a:latin typeface="Calibri"/>
              </a:rPr>
              <a:t>Location: 51%</a:t>
            </a:r>
          </a:p>
          <a:p>
            <a:pPr algn="l">
              <a:spcAft>
                <a:spcPts val="400"/>
              </a:spcAft>
            </a:pPr>
            <a:r>
              <a:rPr sz="1200" b="0">
                <a:solidFill>
                  <a:srgbClr val="334155"/>
                </a:solidFill>
                <a:latin typeface="Calibri"/>
              </a:rPr>
              <a:t>The single most important input. Where the job is matters most.</a:t>
            </a:r>
          </a:p>
        </p:txBody>
      </p:sp>
      <p:sp>
        <p:nvSpPr>
          <p:cNvPr id="13" name="Rounded Rectangle 12"/>
          <p:cNvSpPr/>
          <p:nvPr/>
        </p:nvSpPr>
        <p:spPr>
          <a:xfrm>
            <a:off x="7680960" y="3566160"/>
            <a:ext cx="3977639" cy="13716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600" b="1">
                <a:solidFill>
                  <a:srgbClr val="14B8A6"/>
                </a:solidFill>
                <a:latin typeface="Calibri"/>
              </a:rPr>
              <a:t>Experience: 23%</a:t>
            </a:r>
          </a:p>
          <a:p>
            <a:pPr algn="l">
              <a:spcAft>
                <a:spcPts val="400"/>
              </a:spcAft>
            </a:pPr>
            <a:r>
              <a:rPr sz="1200" b="0">
                <a:solidFill>
                  <a:srgbClr val="334155"/>
                </a:solidFill>
                <a:latin typeface="Calibri"/>
              </a:rPr>
              <a:t>The strongest number-based factor, ahead of skill count.</a:t>
            </a:r>
          </a:p>
        </p:txBody>
      </p:sp>
      <p:sp>
        <p:nvSpPr>
          <p:cNvPr id="14" name="Rounded Rectangle 13"/>
          <p:cNvSpPr/>
          <p:nvPr/>
        </p:nvSpPr>
        <p:spPr>
          <a:xfrm>
            <a:off x="7680960" y="5120640"/>
            <a:ext cx="3977639" cy="114300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500" b="1">
                <a:solidFill>
                  <a:srgbClr val="F59E0B"/>
                </a:solidFill>
                <a:latin typeface="Calibri"/>
              </a:rPr>
              <a:t>Remote work: under 1% each</a:t>
            </a:r>
          </a:p>
          <a:p>
            <a:pPr algn="l">
              <a:spcAft>
                <a:spcPts val="400"/>
              </a:spcAft>
            </a:pPr>
            <a:r>
              <a:rPr sz="1200" b="0">
                <a:solidFill>
                  <a:srgbClr val="334155"/>
                </a:solidFill>
                <a:latin typeface="Calibri"/>
              </a:rPr>
              <a:t>Surprisingly little influence on salary in this data.</a:t>
            </a:r>
          </a:p>
        </p:txBody>
      </p:sp>
      <p:sp>
        <p:nvSpPr>
          <p:cNvPr id="15" name="TextBox 14"/>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6" name="TextBox 15"/>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Try a prediction</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A new candidate profile, predicted by two models</a:t>
            </a:r>
          </a:p>
        </p:txBody>
      </p:sp>
      <p:sp>
        <p:nvSpPr>
          <p:cNvPr id="11" name="Rounded Rectangle 10"/>
          <p:cNvSpPr/>
          <p:nvPr/>
        </p:nvSpPr>
        <p:spPr>
          <a:xfrm>
            <a:off x="548640" y="1920240"/>
            <a:ext cx="4480560" cy="429768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800"/>
              </a:spcAft>
            </a:pPr>
            <a:r>
              <a:rPr sz="1600" b="1">
                <a:solidFill>
                  <a:srgbClr val="6366F1"/>
                </a:solidFill>
                <a:latin typeface="Calibri"/>
              </a:rPr>
              <a:t>Example candidate</a:t>
            </a:r>
          </a:p>
          <a:p>
            <a:pPr algn="l">
              <a:spcAft>
                <a:spcPts val="300"/>
              </a:spcAft>
            </a:pPr>
            <a:r>
              <a:rPr sz="1300" b="0">
                <a:solidFill>
                  <a:srgbClr val="334155"/>
                </a:solidFill>
                <a:latin typeface="Calibri"/>
              </a:rPr>
              <a:t>Job Title:  Machine Learning Engineer</a:t>
            </a:r>
          </a:p>
          <a:p>
            <a:pPr algn="l">
              <a:spcAft>
                <a:spcPts val="300"/>
              </a:spcAft>
            </a:pPr>
            <a:r>
              <a:rPr sz="1300" b="0">
                <a:solidFill>
                  <a:srgbClr val="334155"/>
                </a:solidFill>
                <a:latin typeface="Calibri"/>
              </a:rPr>
              <a:t>Experience (Years):  5.0</a:t>
            </a:r>
          </a:p>
          <a:p>
            <a:pPr algn="l">
              <a:spcAft>
                <a:spcPts val="300"/>
              </a:spcAft>
            </a:pPr>
            <a:r>
              <a:rPr sz="1300" b="0">
                <a:solidFill>
                  <a:srgbClr val="334155"/>
                </a:solidFill>
                <a:latin typeface="Calibri"/>
              </a:rPr>
              <a:t>Education:  Masters</a:t>
            </a:r>
          </a:p>
          <a:p>
            <a:pPr algn="l">
              <a:spcAft>
                <a:spcPts val="300"/>
              </a:spcAft>
            </a:pPr>
            <a:r>
              <a:rPr sz="1300" b="0">
                <a:solidFill>
                  <a:srgbClr val="334155"/>
                </a:solidFill>
                <a:latin typeface="Calibri"/>
              </a:rPr>
              <a:t>Skill Count:  12</a:t>
            </a:r>
          </a:p>
          <a:p>
            <a:pPr algn="l">
              <a:spcAft>
                <a:spcPts val="300"/>
              </a:spcAft>
            </a:pPr>
            <a:r>
              <a:rPr sz="1300" b="0">
                <a:solidFill>
                  <a:srgbClr val="334155"/>
                </a:solidFill>
                <a:latin typeface="Calibri"/>
              </a:rPr>
              <a:t>Industry:  Technology</a:t>
            </a:r>
          </a:p>
          <a:p>
            <a:pPr algn="l">
              <a:spcAft>
                <a:spcPts val="300"/>
              </a:spcAft>
            </a:pPr>
            <a:r>
              <a:rPr sz="1300" b="0">
                <a:solidFill>
                  <a:srgbClr val="334155"/>
                </a:solidFill>
                <a:latin typeface="Calibri"/>
              </a:rPr>
              <a:t>Company:  Google</a:t>
            </a:r>
          </a:p>
          <a:p>
            <a:pPr algn="l">
              <a:spcAft>
                <a:spcPts val="300"/>
              </a:spcAft>
            </a:pPr>
            <a:r>
              <a:rPr sz="1300" b="0">
                <a:solidFill>
                  <a:srgbClr val="334155"/>
                </a:solidFill>
                <a:latin typeface="Calibri"/>
              </a:rPr>
              <a:t>Location:  Bengaluru, India</a:t>
            </a:r>
          </a:p>
          <a:p>
            <a:pPr algn="l">
              <a:spcAft>
                <a:spcPts val="300"/>
              </a:spcAft>
            </a:pPr>
            <a:r>
              <a:rPr sz="1300" b="0">
                <a:solidFill>
                  <a:srgbClr val="334155"/>
                </a:solidFill>
                <a:latin typeface="Calibri"/>
              </a:rPr>
              <a:t>Remote Work:  Yes</a:t>
            </a:r>
          </a:p>
          <a:p>
            <a:pPr algn="l">
              <a:spcAft>
                <a:spcPts val="300"/>
              </a:spcAft>
            </a:pPr>
            <a:r>
              <a:rPr sz="1300" b="0">
                <a:solidFill>
                  <a:srgbClr val="334155"/>
                </a:solidFill>
                <a:latin typeface="Calibri"/>
              </a:rPr>
              <a:t>Certification:  AWS ML Specialty</a:t>
            </a:r>
          </a:p>
        </p:txBody>
      </p:sp>
      <p:sp>
        <p:nvSpPr>
          <p:cNvPr id="12" name="Rounded Rectangle 11"/>
          <p:cNvSpPr/>
          <p:nvPr/>
        </p:nvSpPr>
        <p:spPr>
          <a:xfrm>
            <a:off x="5303520" y="1920240"/>
            <a:ext cx="3108960" cy="2057400"/>
          </a:xfrm>
          <a:prstGeom prst="roundRect">
            <a:avLst>
              <a:gd name="adj" fmla="val 7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400"/>
              </a:spcAft>
            </a:pPr>
            <a:r>
              <a:rPr sz="1400" b="1">
                <a:solidFill>
                  <a:srgbClr val="FFFFFF"/>
                </a:solidFill>
                <a:latin typeface="Calibri"/>
              </a:rPr>
              <a:t>Random Forest</a:t>
            </a:r>
          </a:p>
          <a:p>
            <a:pPr algn="l">
              <a:spcAft>
                <a:spcPts val="200"/>
              </a:spcAft>
            </a:pPr>
            <a:r>
              <a:rPr sz="3000" b="1">
                <a:solidFill>
                  <a:srgbClr val="FFFFFF"/>
                </a:solidFill>
                <a:latin typeface="Calibri"/>
              </a:rPr>
              <a:t>$114,232</a:t>
            </a:r>
          </a:p>
          <a:p>
            <a:pPr algn="l">
              <a:spcAft>
                <a:spcPts val="0"/>
              </a:spcAft>
            </a:pPr>
            <a:r>
              <a:rPr sz="1100" b="0">
                <a:solidFill>
                  <a:srgbClr val="E0E7FF"/>
                </a:solidFill>
                <a:latin typeface="Calibri"/>
              </a:rPr>
              <a:t>with 'Bengaluru' (see note)</a:t>
            </a:r>
          </a:p>
        </p:txBody>
      </p:sp>
      <p:sp>
        <p:nvSpPr>
          <p:cNvPr id="13" name="Rounded Rectangle 12"/>
          <p:cNvSpPr/>
          <p:nvPr/>
        </p:nvSpPr>
        <p:spPr>
          <a:xfrm>
            <a:off x="8595360" y="1920240"/>
            <a:ext cx="3063240" cy="2057400"/>
          </a:xfrm>
          <a:prstGeom prst="roundRect">
            <a:avLst>
              <a:gd name="adj" fmla="val 7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400"/>
              </a:spcAft>
            </a:pPr>
            <a:r>
              <a:rPr sz="1400" b="1">
                <a:solidFill>
                  <a:srgbClr val="0F172A"/>
                </a:solidFill>
                <a:latin typeface="Calibri"/>
              </a:rPr>
              <a:t>Gradient Boosting</a:t>
            </a:r>
          </a:p>
          <a:p>
            <a:pPr algn="l">
              <a:spcAft>
                <a:spcPts val="200"/>
              </a:spcAft>
            </a:pPr>
            <a:r>
              <a:rPr sz="3000" b="1">
                <a:solidFill>
                  <a:srgbClr val="0F172A"/>
                </a:solidFill>
                <a:latin typeface="Calibri"/>
              </a:rPr>
              <a:t>$105,315</a:t>
            </a:r>
          </a:p>
          <a:p>
            <a:pPr algn="l">
              <a:spcAft>
                <a:spcPts val="0"/>
              </a:spcAft>
            </a:pPr>
            <a:r>
              <a:rPr sz="1100" b="0">
                <a:solidFill>
                  <a:srgbClr val="0F172A"/>
                </a:solidFill>
                <a:latin typeface="Calibri"/>
              </a:rPr>
              <a:t>with 'Bengaluru' (see note)</a:t>
            </a:r>
          </a:p>
        </p:txBody>
      </p:sp>
      <p:sp>
        <p:nvSpPr>
          <p:cNvPr id="14" name="Rounded Rectangle 13"/>
          <p:cNvSpPr/>
          <p:nvPr/>
        </p:nvSpPr>
        <p:spPr>
          <a:xfrm>
            <a:off x="5303520" y="4160520"/>
            <a:ext cx="6355080" cy="2057400"/>
          </a:xfrm>
          <a:prstGeom prst="roundRect">
            <a:avLst>
              <a:gd name="adj" fmla="val 7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pPr>
            <a:r>
              <a:rPr sz="1500" b="1">
                <a:solidFill>
                  <a:srgbClr val="F59E0B"/>
                </a:solidFill>
                <a:latin typeface="Calibri"/>
              </a:rPr>
              <a:t>Important catch</a:t>
            </a:r>
          </a:p>
          <a:p>
            <a:pPr algn="l">
              <a:spcAft>
                <a:spcPts val="600"/>
              </a:spcAft>
            </a:pPr>
            <a:r>
              <a:rPr sz="1300" b="0">
                <a:solidFill>
                  <a:srgbClr val="FFFFFF"/>
                </a:solidFill>
                <a:latin typeface="Calibri"/>
              </a:rPr>
              <a:t>'Bengaluru, India' is not in the dataset (it is spelled 'Bangalore, India'). The notebook silently treats it as 'Austin, USA'.</a:t>
            </a:r>
          </a:p>
          <a:p>
            <a:pPr algn="l">
              <a:spcAft>
                <a:spcPts val="0"/>
              </a:spcAft>
            </a:pPr>
            <a:r>
              <a:rPr sz="1400" b="1">
                <a:solidFill>
                  <a:srgbClr val="FFFFFF"/>
                </a:solidFill>
                <a:latin typeface="Calibri"/>
              </a:rPr>
              <a:t>With the correct spelling: Random Forest $41,522, Gradient Boosting $33,857.</a:t>
            </a:r>
          </a:p>
        </p:txBody>
      </p:sp>
      <p:sp>
        <p:nvSpPr>
          <p:cNvPr id="15" name="TextBox 14"/>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6" name="TextBox 15"/>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Limits: what to keep in mind</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A good score is not the same as a perfect tool</a:t>
            </a:r>
          </a:p>
        </p:txBody>
      </p:sp>
      <p:sp>
        <p:nvSpPr>
          <p:cNvPr id="11" name="Rounded Rectangle 10"/>
          <p:cNvSpPr/>
          <p:nvPr/>
        </p:nvSpPr>
        <p:spPr>
          <a:xfrm>
            <a:off x="548640" y="1920240"/>
            <a:ext cx="3520440" cy="196596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600" b="1">
                <a:solidFill>
                  <a:srgbClr val="F43F5E"/>
                </a:solidFill>
                <a:latin typeface="Calibri"/>
              </a:rPr>
              <a:t>Small dataset</a:t>
            </a:r>
          </a:p>
          <a:p>
            <a:pPr algn="l">
              <a:spcAft>
                <a:spcPts val="400"/>
              </a:spcAft>
            </a:pPr>
            <a:r>
              <a:rPr sz="1300" b="0">
                <a:solidFill>
                  <a:srgbClr val="334155"/>
                </a:solidFill>
                <a:latin typeface="Calibri"/>
              </a:rPr>
              <a:t>500 rows. Results could change with more data.</a:t>
            </a:r>
          </a:p>
        </p:txBody>
      </p:sp>
      <p:sp>
        <p:nvSpPr>
          <p:cNvPr id="12" name="Rounded Rectangle 11"/>
          <p:cNvSpPr/>
          <p:nvPr/>
        </p:nvSpPr>
        <p:spPr>
          <a:xfrm>
            <a:off x="4297679" y="1920240"/>
            <a:ext cx="3520440" cy="196596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600" b="1">
                <a:solidFill>
                  <a:srgbClr val="F59E0B"/>
                </a:solidFill>
                <a:latin typeface="Calibri"/>
              </a:rPr>
              <a:t>Data source unclear</a:t>
            </a:r>
          </a:p>
          <a:p>
            <a:pPr algn="l">
              <a:spcAft>
                <a:spcPts val="400"/>
              </a:spcAft>
            </a:pPr>
            <a:r>
              <a:rPr sz="1300" b="0">
                <a:solidFill>
                  <a:srgbClr val="334155"/>
                </a:solidFill>
                <a:latin typeface="Calibri"/>
              </a:rPr>
              <a:t>Some labels look odd (e.g. many 'Research Interns' with 5+ years). It may be synthetic.</a:t>
            </a:r>
          </a:p>
        </p:txBody>
      </p:sp>
      <p:sp>
        <p:nvSpPr>
          <p:cNvPr id="13" name="Rounded Rectangle 12"/>
          <p:cNvSpPr/>
          <p:nvPr/>
        </p:nvSpPr>
        <p:spPr>
          <a:xfrm>
            <a:off x="8046719" y="1920240"/>
            <a:ext cx="3520440" cy="196596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600" b="1">
                <a:solidFill>
                  <a:srgbClr val="A78BFA"/>
                </a:solidFill>
                <a:latin typeface="Calibri"/>
              </a:rPr>
              <a:t>Arbitrary codes</a:t>
            </a:r>
          </a:p>
          <a:p>
            <a:pPr algn="l">
              <a:spcAft>
                <a:spcPts val="400"/>
              </a:spcAft>
            </a:pPr>
            <a:r>
              <a:rPr sz="1300" b="0">
                <a:solidFill>
                  <a:srgbClr val="334155"/>
                </a:solidFill>
                <a:latin typeface="Calibri"/>
              </a:rPr>
              <a:t>LabelEncoder gives text values numbers in alphabetical order, which the model may misread.</a:t>
            </a:r>
          </a:p>
        </p:txBody>
      </p:sp>
      <p:sp>
        <p:nvSpPr>
          <p:cNvPr id="14" name="Rounded Rectangle 13"/>
          <p:cNvSpPr/>
          <p:nvPr/>
        </p:nvSpPr>
        <p:spPr>
          <a:xfrm>
            <a:off x="548640" y="4114800"/>
            <a:ext cx="3520440" cy="196596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600" b="1">
                <a:solidFill>
                  <a:srgbClr val="F43F5E"/>
                </a:solidFill>
                <a:latin typeface="Calibri"/>
              </a:rPr>
              <a:t>Unseen names</a:t>
            </a:r>
          </a:p>
          <a:p>
            <a:pPr algn="l">
              <a:spcAft>
                <a:spcPts val="400"/>
              </a:spcAft>
            </a:pPr>
            <a:r>
              <a:rPr sz="1300" b="0">
                <a:solidFill>
                  <a:srgbClr val="334155"/>
                </a:solidFill>
                <a:latin typeface="Calibri"/>
              </a:rPr>
              <a:t>A city missing from the data silently falls back to the first known one (see the Bengaluru example).</a:t>
            </a:r>
          </a:p>
        </p:txBody>
      </p:sp>
      <p:sp>
        <p:nvSpPr>
          <p:cNvPr id="15" name="Rounded Rectangle 14"/>
          <p:cNvSpPr/>
          <p:nvPr/>
        </p:nvSpPr>
        <p:spPr>
          <a:xfrm>
            <a:off x="4297679" y="4114800"/>
            <a:ext cx="3520440" cy="196596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600" b="1">
                <a:solidFill>
                  <a:srgbClr val="14B8A6"/>
                </a:solidFill>
                <a:latin typeface="Calibri"/>
              </a:rPr>
              <a:t>Correlation ≠ cause</a:t>
            </a:r>
          </a:p>
          <a:p>
            <a:pPr algn="l">
              <a:spcAft>
                <a:spcPts val="400"/>
              </a:spcAft>
            </a:pPr>
            <a:r>
              <a:rPr sz="1300" b="0">
                <a:solidFill>
                  <a:srgbClr val="334155"/>
                </a:solidFill>
                <a:latin typeface="Calibri"/>
              </a:rPr>
              <a:t>Patterns show association. They do not prove that a skill or city causes a higher salary.</a:t>
            </a:r>
          </a:p>
        </p:txBody>
      </p:sp>
      <p:sp>
        <p:nvSpPr>
          <p:cNvPr id="16" name="Rounded Rectangle 15"/>
          <p:cNvSpPr/>
          <p:nvPr/>
        </p:nvSpPr>
        <p:spPr>
          <a:xfrm>
            <a:off x="8046719" y="4114800"/>
            <a:ext cx="3520440" cy="196596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600"/>
              </a:spcAft>
            </a:pPr>
            <a:r>
              <a:rPr sz="1600" b="1">
                <a:solidFill>
                  <a:srgbClr val="6366F1"/>
                </a:solidFill>
                <a:latin typeface="Calibri"/>
              </a:rPr>
              <a:t>Single split</a:t>
            </a:r>
          </a:p>
          <a:p>
            <a:pPr algn="l">
              <a:spcAft>
                <a:spcPts val="400"/>
              </a:spcAft>
            </a:pPr>
            <a:r>
              <a:rPr sz="1300" b="0">
                <a:solidFill>
                  <a:srgbClr val="334155"/>
                </a:solidFill>
                <a:latin typeface="Calibri"/>
              </a:rPr>
              <a:t>The notebook evaluates one 80/20 split. Cross-validation (slide 22) adds more confidence.</a:t>
            </a:r>
          </a:p>
        </p:txBody>
      </p:sp>
      <p:sp>
        <p:nvSpPr>
          <p:cNvPr id="17" name="TextBox 16"/>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8" name="TextBox 17"/>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FFFFFF"/>
                </a:solidFill>
                <a:latin typeface="Calibri"/>
              </a:rPr>
              <a:t>Key takeaways</a:t>
            </a:r>
          </a:p>
        </p:txBody>
      </p:sp>
      <p:sp>
        <p:nvSpPr>
          <p:cNvPr id="10" name="Oval 9"/>
          <p:cNvSpPr/>
          <p:nvPr/>
        </p:nvSpPr>
        <p:spPr>
          <a:xfrm>
            <a:off x="548640" y="1691640"/>
            <a:ext cx="731520" cy="731520"/>
          </a:xfrm>
          <a:prstGeom prst="ellipse">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200" b="1">
                <a:solidFill>
                  <a:srgbClr val="FFFFFF"/>
                </a:solidFill>
                <a:latin typeface="Calibri"/>
              </a:rPr>
              <a:t>1</a:t>
            </a:r>
          </a:p>
        </p:txBody>
      </p:sp>
      <p:sp>
        <p:nvSpPr>
          <p:cNvPr id="11" name="TextBox 10"/>
          <p:cNvSpPr txBox="1"/>
          <p:nvPr/>
        </p:nvSpPr>
        <p:spPr>
          <a:xfrm>
            <a:off x="1508760" y="1673352"/>
            <a:ext cx="10058400" cy="411480"/>
          </a:xfrm>
          <a:prstGeom prst="rect">
            <a:avLst/>
          </a:prstGeom>
          <a:noFill/>
        </p:spPr>
        <p:txBody>
          <a:bodyPr wrap="square" anchor="t" lIns="73152" rIns="73152" tIns="73152" bIns="73152">
            <a:spAutoFit/>
          </a:bodyPr>
          <a:lstStyle/>
          <a:p>
            <a:pPr algn="l">
              <a:spcAft>
                <a:spcPts val="400"/>
              </a:spcAft>
            </a:pPr>
            <a:r>
              <a:rPr sz="1900" b="1">
                <a:solidFill>
                  <a:srgbClr val="FFFFFF"/>
                </a:solidFill>
                <a:latin typeface="Calibri"/>
              </a:rPr>
              <a:t>Location matters most</a:t>
            </a:r>
          </a:p>
        </p:txBody>
      </p:sp>
      <p:sp>
        <p:nvSpPr>
          <p:cNvPr id="12" name="TextBox 11"/>
          <p:cNvSpPr txBox="1"/>
          <p:nvPr/>
        </p:nvSpPr>
        <p:spPr>
          <a:xfrm>
            <a:off x="1508760" y="2020824"/>
            <a:ext cx="10058400" cy="411480"/>
          </a:xfrm>
          <a:prstGeom prst="rect">
            <a:avLst/>
          </a:prstGeom>
          <a:noFill/>
        </p:spPr>
        <p:txBody>
          <a:bodyPr wrap="square" anchor="t" lIns="73152" rIns="73152" tIns="73152" bIns="73152">
            <a:spAutoFit/>
          </a:bodyPr>
          <a:lstStyle/>
          <a:p>
            <a:pPr algn="l">
              <a:spcAft>
                <a:spcPts val="400"/>
              </a:spcAft>
            </a:pPr>
            <a:r>
              <a:rPr sz="1350" b="0">
                <a:solidFill>
                  <a:srgbClr val="CBD5E1"/>
                </a:solidFill>
                <a:latin typeface="Calibri"/>
              </a:rPr>
              <a:t>US &amp; Europe-based roles average far above India-based roles in this data.</a:t>
            </a:r>
          </a:p>
        </p:txBody>
      </p:sp>
      <p:sp>
        <p:nvSpPr>
          <p:cNvPr id="13" name="Oval 12"/>
          <p:cNvSpPr/>
          <p:nvPr/>
        </p:nvSpPr>
        <p:spPr>
          <a:xfrm>
            <a:off x="548640" y="2606040"/>
            <a:ext cx="731520" cy="73152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200" b="1">
                <a:solidFill>
                  <a:srgbClr val="FFFFFF"/>
                </a:solidFill>
                <a:latin typeface="Calibri"/>
              </a:rPr>
              <a:t>2</a:t>
            </a:r>
          </a:p>
        </p:txBody>
      </p:sp>
      <p:sp>
        <p:nvSpPr>
          <p:cNvPr id="14" name="TextBox 13"/>
          <p:cNvSpPr txBox="1"/>
          <p:nvPr/>
        </p:nvSpPr>
        <p:spPr>
          <a:xfrm>
            <a:off x="1508760" y="2587752"/>
            <a:ext cx="10058400" cy="411480"/>
          </a:xfrm>
          <a:prstGeom prst="rect">
            <a:avLst/>
          </a:prstGeom>
          <a:noFill/>
        </p:spPr>
        <p:txBody>
          <a:bodyPr wrap="square" anchor="t" lIns="73152" rIns="73152" tIns="73152" bIns="73152">
            <a:spAutoFit/>
          </a:bodyPr>
          <a:lstStyle/>
          <a:p>
            <a:pPr algn="l">
              <a:spcAft>
                <a:spcPts val="400"/>
              </a:spcAft>
            </a:pPr>
            <a:r>
              <a:rPr sz="1900" b="1">
                <a:solidFill>
                  <a:srgbClr val="FFFFFF"/>
                </a:solidFill>
                <a:latin typeface="Calibri"/>
              </a:rPr>
              <a:t>Experience pays</a:t>
            </a:r>
          </a:p>
        </p:txBody>
      </p:sp>
      <p:sp>
        <p:nvSpPr>
          <p:cNvPr id="15" name="TextBox 14"/>
          <p:cNvSpPr txBox="1"/>
          <p:nvPr/>
        </p:nvSpPr>
        <p:spPr>
          <a:xfrm>
            <a:off x="1508760" y="2935224"/>
            <a:ext cx="10058400" cy="411480"/>
          </a:xfrm>
          <a:prstGeom prst="rect">
            <a:avLst/>
          </a:prstGeom>
          <a:noFill/>
        </p:spPr>
        <p:txBody>
          <a:bodyPr wrap="square" anchor="t" lIns="73152" rIns="73152" tIns="73152" bIns="73152">
            <a:spAutoFit/>
          </a:bodyPr>
          <a:lstStyle/>
          <a:p>
            <a:pPr algn="l">
              <a:spcAft>
                <a:spcPts val="400"/>
              </a:spcAft>
            </a:pPr>
            <a:r>
              <a:rPr sz="1350" b="0">
                <a:solidFill>
                  <a:srgbClr val="CBD5E1"/>
                </a:solidFill>
                <a:latin typeface="Calibri"/>
              </a:rPr>
              <a:t>Average salary climbs from about $65k (0-3 yrs) to $120k (15-20 yrs).</a:t>
            </a:r>
          </a:p>
        </p:txBody>
      </p:sp>
      <p:sp>
        <p:nvSpPr>
          <p:cNvPr id="16" name="Oval 15"/>
          <p:cNvSpPr/>
          <p:nvPr/>
        </p:nvSpPr>
        <p:spPr>
          <a:xfrm>
            <a:off x="548640" y="352044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200" b="1">
                <a:solidFill>
                  <a:srgbClr val="FFFFFF"/>
                </a:solidFill>
                <a:latin typeface="Calibri"/>
              </a:rPr>
              <a:t>3</a:t>
            </a:r>
          </a:p>
        </p:txBody>
      </p:sp>
      <p:sp>
        <p:nvSpPr>
          <p:cNvPr id="17" name="TextBox 16"/>
          <p:cNvSpPr txBox="1"/>
          <p:nvPr/>
        </p:nvSpPr>
        <p:spPr>
          <a:xfrm>
            <a:off x="1508760" y="3502152"/>
            <a:ext cx="10058400" cy="411480"/>
          </a:xfrm>
          <a:prstGeom prst="rect">
            <a:avLst/>
          </a:prstGeom>
          <a:noFill/>
        </p:spPr>
        <p:txBody>
          <a:bodyPr wrap="square" anchor="t" lIns="73152" rIns="73152" tIns="73152" bIns="73152">
            <a:spAutoFit/>
          </a:bodyPr>
          <a:lstStyle/>
          <a:p>
            <a:pPr algn="l">
              <a:spcAft>
                <a:spcPts val="400"/>
              </a:spcAft>
            </a:pPr>
            <a:r>
              <a:rPr sz="1900" b="1">
                <a:solidFill>
                  <a:srgbClr val="FFFFFF"/>
                </a:solidFill>
                <a:latin typeface="Calibri"/>
              </a:rPr>
              <a:t>Boosting wins</a:t>
            </a:r>
          </a:p>
        </p:txBody>
      </p:sp>
      <p:sp>
        <p:nvSpPr>
          <p:cNvPr id="18" name="TextBox 17"/>
          <p:cNvSpPr txBox="1"/>
          <p:nvPr/>
        </p:nvSpPr>
        <p:spPr>
          <a:xfrm>
            <a:off x="1508760" y="3849624"/>
            <a:ext cx="10058400" cy="411480"/>
          </a:xfrm>
          <a:prstGeom prst="rect">
            <a:avLst/>
          </a:prstGeom>
          <a:noFill/>
        </p:spPr>
        <p:txBody>
          <a:bodyPr wrap="square" anchor="t" lIns="73152" rIns="73152" tIns="73152" bIns="73152">
            <a:spAutoFit/>
          </a:bodyPr>
          <a:lstStyle/>
          <a:p>
            <a:pPr algn="l">
              <a:spcAft>
                <a:spcPts val="400"/>
              </a:spcAft>
            </a:pPr>
            <a:r>
              <a:rPr sz="1350" b="0">
                <a:solidFill>
                  <a:srgbClr val="CBD5E1"/>
                </a:solidFill>
                <a:latin typeface="Calibri"/>
              </a:rPr>
              <a:t>Gradient Boosting: R² 0.935, average error about $9,090.</a:t>
            </a:r>
          </a:p>
        </p:txBody>
      </p:sp>
      <p:sp>
        <p:nvSpPr>
          <p:cNvPr id="19" name="Oval 18"/>
          <p:cNvSpPr/>
          <p:nvPr/>
        </p:nvSpPr>
        <p:spPr>
          <a:xfrm>
            <a:off x="548640" y="4434840"/>
            <a:ext cx="731520" cy="731520"/>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200" b="1">
                <a:solidFill>
                  <a:srgbClr val="FFFFFF"/>
                </a:solidFill>
                <a:latin typeface="Calibri"/>
              </a:rPr>
              <a:t>4</a:t>
            </a:r>
          </a:p>
        </p:txBody>
      </p:sp>
      <p:sp>
        <p:nvSpPr>
          <p:cNvPr id="20" name="TextBox 19"/>
          <p:cNvSpPr txBox="1"/>
          <p:nvPr/>
        </p:nvSpPr>
        <p:spPr>
          <a:xfrm>
            <a:off x="1508760" y="4416552"/>
            <a:ext cx="10058400" cy="411480"/>
          </a:xfrm>
          <a:prstGeom prst="rect">
            <a:avLst/>
          </a:prstGeom>
          <a:noFill/>
        </p:spPr>
        <p:txBody>
          <a:bodyPr wrap="square" anchor="t" lIns="73152" rIns="73152" tIns="73152" bIns="73152">
            <a:spAutoFit/>
          </a:bodyPr>
          <a:lstStyle/>
          <a:p>
            <a:pPr algn="l">
              <a:spcAft>
                <a:spcPts val="400"/>
              </a:spcAft>
            </a:pPr>
            <a:r>
              <a:rPr sz="1900" b="1">
                <a:solidFill>
                  <a:srgbClr val="FFFFFF"/>
                </a:solidFill>
                <a:latin typeface="Calibri"/>
              </a:rPr>
              <a:t>Check the data</a:t>
            </a:r>
          </a:p>
        </p:txBody>
      </p:sp>
      <p:sp>
        <p:nvSpPr>
          <p:cNvPr id="21" name="TextBox 20"/>
          <p:cNvSpPr txBox="1"/>
          <p:nvPr/>
        </p:nvSpPr>
        <p:spPr>
          <a:xfrm>
            <a:off x="1508760" y="4764024"/>
            <a:ext cx="10058400" cy="411480"/>
          </a:xfrm>
          <a:prstGeom prst="rect">
            <a:avLst/>
          </a:prstGeom>
          <a:noFill/>
        </p:spPr>
        <p:txBody>
          <a:bodyPr wrap="square" anchor="t" lIns="73152" rIns="73152" tIns="73152" bIns="73152">
            <a:spAutoFit/>
          </a:bodyPr>
          <a:lstStyle/>
          <a:p>
            <a:pPr algn="l">
              <a:spcAft>
                <a:spcPts val="400"/>
              </a:spcAft>
            </a:pPr>
            <a:r>
              <a:rPr sz="1350" b="0">
                <a:solidFill>
                  <a:srgbClr val="CBD5E1"/>
                </a:solidFill>
                <a:latin typeface="Calibri"/>
              </a:rPr>
              <a:t>Clean labels and clear city names matter more than fancy models.</a:t>
            </a:r>
          </a:p>
        </p:txBody>
      </p:sp>
      <p:sp>
        <p:nvSpPr>
          <p:cNvPr id="22" name="Oval 21"/>
          <p:cNvSpPr/>
          <p:nvPr/>
        </p:nvSpPr>
        <p:spPr>
          <a:xfrm>
            <a:off x="548640" y="5349240"/>
            <a:ext cx="731520" cy="731520"/>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200" b="1">
                <a:solidFill>
                  <a:srgbClr val="FFFFFF"/>
                </a:solidFill>
                <a:latin typeface="Calibri"/>
              </a:rPr>
              <a:t>5</a:t>
            </a:r>
          </a:p>
        </p:txBody>
      </p:sp>
      <p:sp>
        <p:nvSpPr>
          <p:cNvPr id="23" name="TextBox 22"/>
          <p:cNvSpPr txBox="1"/>
          <p:nvPr/>
        </p:nvSpPr>
        <p:spPr>
          <a:xfrm>
            <a:off x="1508760" y="5330952"/>
            <a:ext cx="10058400" cy="411480"/>
          </a:xfrm>
          <a:prstGeom prst="rect">
            <a:avLst/>
          </a:prstGeom>
          <a:noFill/>
        </p:spPr>
        <p:txBody>
          <a:bodyPr wrap="square" anchor="t" lIns="73152" rIns="73152" tIns="73152" bIns="73152">
            <a:spAutoFit/>
          </a:bodyPr>
          <a:lstStyle/>
          <a:p>
            <a:pPr algn="l">
              <a:spcAft>
                <a:spcPts val="400"/>
              </a:spcAft>
            </a:pPr>
            <a:r>
              <a:rPr sz="1900" b="1">
                <a:solidFill>
                  <a:srgbClr val="FFFFFF"/>
                </a:solidFill>
                <a:latin typeface="Calibri"/>
              </a:rPr>
              <a:t>Start simple</a:t>
            </a:r>
          </a:p>
        </p:txBody>
      </p:sp>
      <p:sp>
        <p:nvSpPr>
          <p:cNvPr id="24" name="TextBox 23"/>
          <p:cNvSpPr txBox="1"/>
          <p:nvPr/>
        </p:nvSpPr>
        <p:spPr>
          <a:xfrm>
            <a:off x="1508760" y="5678424"/>
            <a:ext cx="10058400" cy="411480"/>
          </a:xfrm>
          <a:prstGeom prst="rect">
            <a:avLst/>
          </a:prstGeom>
          <a:noFill/>
        </p:spPr>
        <p:txBody>
          <a:bodyPr wrap="square" anchor="t" lIns="73152" rIns="73152" tIns="73152" bIns="73152">
            <a:spAutoFit/>
          </a:bodyPr>
          <a:lstStyle/>
          <a:p>
            <a:pPr algn="l">
              <a:spcAft>
                <a:spcPts val="400"/>
              </a:spcAft>
            </a:pPr>
            <a:r>
              <a:rPr sz="1350" b="0">
                <a:solidFill>
                  <a:srgbClr val="CBD5E1"/>
                </a:solidFill>
                <a:latin typeface="Calibri"/>
              </a:rPr>
              <a:t>Begin with a baseline, then move to better models. Compare them honestly.</a:t>
            </a:r>
          </a:p>
        </p:txBody>
      </p:sp>
      <p:sp>
        <p:nvSpPr>
          <p:cNvPr id="25" name="TextBox 24"/>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26" name="TextBox 25"/>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0F172A"/>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Quiz</a:t>
            </a:r>
          </a:p>
        </p:txBody>
      </p:sp>
      <p:sp>
        <p:nvSpPr>
          <p:cNvPr id="9" name="TextBox 8"/>
          <p:cNvSpPr txBox="1"/>
          <p:nvPr/>
        </p:nvSpPr>
        <p:spPr>
          <a:xfrm>
            <a:off x="548640" y="713232"/>
            <a:ext cx="10972800" cy="685800"/>
          </a:xfrm>
          <a:prstGeom prst="rect">
            <a:avLst/>
          </a:prstGeom>
          <a:noFill/>
        </p:spPr>
        <p:txBody>
          <a:bodyPr wrap="square" anchor="t" lIns="73152" rIns="73152" tIns="73152" bIns="73152">
            <a:spAutoFit/>
          </a:bodyPr>
          <a:lstStyle/>
          <a:p>
            <a:pPr algn="l">
              <a:spcAft>
                <a:spcPts val="400"/>
              </a:spcAft>
            </a:pPr>
            <a:r>
              <a:rPr sz="3000" b="1">
                <a:solidFill>
                  <a:srgbClr val="0F172A"/>
                </a:solidFill>
                <a:latin typeface="Calibri"/>
              </a:rPr>
              <a:t>Test yourself</a:t>
            </a:r>
          </a:p>
        </p:txBody>
      </p:sp>
      <p:sp>
        <p:nvSpPr>
          <p:cNvPr id="10" name="TextBox 9"/>
          <p:cNvSpPr txBox="1"/>
          <p:nvPr/>
        </p:nvSpPr>
        <p:spPr>
          <a:xfrm>
            <a:off x="548640" y="1371600"/>
            <a:ext cx="10972800" cy="411480"/>
          </a:xfrm>
          <a:prstGeom prst="rect">
            <a:avLst/>
          </a:prstGeom>
          <a:noFill/>
        </p:spPr>
        <p:txBody>
          <a:bodyPr wrap="square" anchor="t" lIns="73152" rIns="73152" tIns="73152" bIns="73152">
            <a:spAutoFit/>
          </a:bodyPr>
          <a:lstStyle/>
          <a:p>
            <a:pPr algn="l">
              <a:spcAft>
                <a:spcPts val="400"/>
              </a:spcAft>
            </a:pPr>
            <a:r>
              <a:rPr sz="1600" b="0">
                <a:solidFill>
                  <a:srgbClr val="64748B"/>
                </a:solidFill>
                <a:latin typeface="Calibri"/>
              </a:rPr>
              <a:t>Think of the answer first, then click to reveal it</a:t>
            </a:r>
          </a:p>
        </p:txBody>
      </p:sp>
      <p:sp>
        <p:nvSpPr>
          <p:cNvPr id="11" name="Rounded Rectangle 10"/>
          <p:cNvSpPr/>
          <p:nvPr/>
        </p:nvSpPr>
        <p:spPr>
          <a:xfrm>
            <a:off x="548640" y="1920240"/>
            <a:ext cx="5120640" cy="12344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0"/>
              </a:spcAft>
            </a:pPr>
            <a:r>
              <a:rPr sz="1600" b="1">
                <a:solidFill>
                  <a:srgbClr val="0F172A"/>
                </a:solidFill>
                <a:latin typeface="Calibri"/>
              </a:rPr>
              <a:t>Q1. If a model's R² is 0.93 on unseen jobs, is that good?</a:t>
            </a:r>
          </a:p>
        </p:txBody>
      </p:sp>
      <p:sp>
        <p:nvSpPr>
          <p:cNvPr id="12" name="Rounded Rectangle 11"/>
          <p:cNvSpPr/>
          <p:nvPr/>
        </p:nvSpPr>
        <p:spPr>
          <a:xfrm>
            <a:off x="5943600" y="1920240"/>
            <a:ext cx="5715000" cy="1234440"/>
          </a:xfrm>
          <a:prstGeom prst="roundRect">
            <a:avLst>
              <a:gd name="adj" fmla="val 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0"/>
              </a:spcAft>
            </a:pPr>
            <a:r>
              <a:rPr sz="1400" b="0">
                <a:solidFill>
                  <a:srgbClr val="0F172A"/>
                </a:solidFill>
                <a:latin typeface="Calibri"/>
              </a:rPr>
              <a:t>Answer: Yes. R² is close to 1, so the model explains about 93% of the salary variation on jobs it never saw.</a:t>
            </a:r>
          </a:p>
        </p:txBody>
      </p:sp>
      <p:sp>
        <p:nvSpPr>
          <p:cNvPr id="13" name="Rounded Rectangle 12"/>
          <p:cNvSpPr/>
          <p:nvPr/>
        </p:nvSpPr>
        <p:spPr>
          <a:xfrm>
            <a:off x="548640" y="3383280"/>
            <a:ext cx="5120640" cy="12344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0"/>
              </a:spcAft>
            </a:pPr>
            <a:r>
              <a:rPr sz="1600" b="1">
                <a:solidFill>
                  <a:srgbClr val="0F172A"/>
                </a:solidFill>
                <a:latin typeface="Calibri"/>
              </a:rPr>
              <a:t>Q2. Which input mattered most to the Random Forest?</a:t>
            </a:r>
          </a:p>
        </p:txBody>
      </p:sp>
      <p:sp>
        <p:nvSpPr>
          <p:cNvPr id="14" name="Rounded Rectangle 13"/>
          <p:cNvSpPr/>
          <p:nvPr/>
        </p:nvSpPr>
        <p:spPr>
          <a:xfrm>
            <a:off x="5943600" y="3383280"/>
            <a:ext cx="5715000" cy="1234440"/>
          </a:xfrm>
          <a:prstGeom prst="roundRect">
            <a:avLst>
              <a:gd name="adj" fmla="val 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0"/>
              </a:spcAft>
            </a:pPr>
            <a:r>
              <a:rPr sz="1400" b="0">
                <a:solidFill>
                  <a:srgbClr val="0F172A"/>
                </a:solidFill>
                <a:latin typeface="Calibri"/>
              </a:rPr>
              <a:t>Answer: Location, with about 51% of its decisions. Experience came second.</a:t>
            </a:r>
          </a:p>
        </p:txBody>
      </p:sp>
      <p:sp>
        <p:nvSpPr>
          <p:cNvPr id="15" name="Rounded Rectangle 14"/>
          <p:cNvSpPr/>
          <p:nvPr/>
        </p:nvSpPr>
        <p:spPr>
          <a:xfrm>
            <a:off x="548640" y="4846320"/>
            <a:ext cx="5120640" cy="12344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0"/>
              </a:spcAft>
            </a:pPr>
            <a:r>
              <a:rPr sz="1600" b="1">
                <a:solidFill>
                  <a:srgbClr val="0F172A"/>
                </a:solidFill>
                <a:latin typeface="Calibri"/>
              </a:rPr>
              <a:t>Q3. Why do we keep 100 jobs hidden during training?</a:t>
            </a:r>
          </a:p>
        </p:txBody>
      </p:sp>
      <p:sp>
        <p:nvSpPr>
          <p:cNvPr id="16" name="Rounded Rectangle 15"/>
          <p:cNvSpPr/>
          <p:nvPr/>
        </p:nvSpPr>
        <p:spPr>
          <a:xfrm>
            <a:off x="5943600" y="4846320"/>
            <a:ext cx="5715000" cy="1234440"/>
          </a:xfrm>
          <a:prstGeom prst="roundRect">
            <a:avLst>
              <a:gd name="adj" fmla="val 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0"/>
              </a:spcAft>
            </a:pPr>
            <a:r>
              <a:rPr sz="1400" b="0">
                <a:solidFill>
                  <a:srgbClr val="0F172A"/>
                </a:solidFill>
                <a:latin typeface="Calibri"/>
              </a:rPr>
              <a:t>Answer: To check the model on jobs it has never seen, so we do not fool ourselves with memorised answers.</a:t>
            </a:r>
          </a:p>
        </p:txBody>
      </p:sp>
      <p:sp>
        <p:nvSpPr>
          <p:cNvPr id="17" name="TextBox 16"/>
          <p:cNvSpPr txBox="1"/>
          <p:nvPr/>
        </p:nvSpPr>
        <p:spPr>
          <a:xfrm>
            <a:off x="548640" y="6400800"/>
            <a:ext cx="7315200" cy="274320"/>
          </a:xfrm>
          <a:prstGeom prst="rect">
            <a:avLst/>
          </a:prstGeom>
          <a:noFill/>
        </p:spPr>
        <p:txBody>
          <a:bodyPr wrap="square" anchor="t" lIns="73152" rIns="73152" tIns="73152" bIns="73152">
            <a:spAutoFit/>
          </a:bodyPr>
          <a:lstStyle/>
          <a:p>
            <a:pPr algn="l">
              <a:spcAft>
                <a:spcPts val="400"/>
              </a:spcAft>
            </a:pPr>
            <a:r>
              <a:rPr sz="900" b="0">
                <a:solidFill>
                  <a:srgbClr val="94A3B8"/>
                </a:solidFill>
                <a:latin typeface="Calibri"/>
              </a:rPr>
              <a:t>AI/ML Job Salary Prediction  •  interactive deck</a:t>
            </a:r>
          </a:p>
        </p:txBody>
      </p:sp>
      <p:sp>
        <p:nvSpPr>
          <p:cNvPr id="18" name="TextBox 17"/>
          <p:cNvSpPr txBox="1"/>
          <p:nvPr/>
        </p:nvSpPr>
        <p:spPr>
          <a:xfrm>
            <a:off x="10881360" y="6400800"/>
            <a:ext cx="822960" cy="274320"/>
          </a:xfrm>
          <a:prstGeom prst="rect">
            <a:avLst/>
          </a:prstGeom>
          <a:noFill/>
        </p:spPr>
        <p:txBody>
          <a:bodyPr wrap="square" anchor="t" lIns="73152" rIns="73152" tIns="73152" bIns="73152">
            <a:spAutoFit/>
          </a:bodyPr>
          <a:lstStyle/>
          <a:p>
            <a:pPr algn="r">
              <a:spcAft>
                <a:spcPts val="400"/>
              </a:spcAft>
            </a:pPr>
            <a:r>
              <a:rPr sz="900" b="0">
                <a:solidFill>
                  <a:srgbClr val="94A3B8"/>
                </a:solidFill>
                <a:latin typeface="Calibri"/>
              </a:rPr>
              <a:t>27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a:hlinkClick action="ppaction://hlinksldjump" r:id="rId2"/>
          </p:cNvPr>
          <p:cNvSpPr/>
          <p:nvPr/>
        </p:nvSpPr>
        <p:spPr>
          <a:xfrm>
            <a:off x="4483303" y="201168"/>
            <a:ext cx="987552" cy="329184"/>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Agenda</a:t>
            </a:r>
          </a:p>
        </p:txBody>
      </p:sp>
      <p:sp>
        <p:nvSpPr>
          <p:cNvPr id="3" name="Rounded Rectangle 2">
            <a:hlinkClick action="ppaction://hlinksldjump" r:id="rId3"/>
          </p:cNvPr>
          <p:cNvSpPr/>
          <p:nvPr/>
        </p:nvSpPr>
        <p:spPr>
          <a:xfrm>
            <a:off x="552571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Big Picture</a:t>
            </a:r>
          </a:p>
        </p:txBody>
      </p:sp>
      <p:sp>
        <p:nvSpPr>
          <p:cNvPr id="4" name="Rounded Rectangle 3">
            <a:hlinkClick action="ppaction://hlinksldjump" r:id="rId4"/>
          </p:cNvPr>
          <p:cNvSpPr/>
          <p:nvPr/>
        </p:nvSpPr>
        <p:spPr>
          <a:xfrm>
            <a:off x="6568135"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Data</a:t>
            </a:r>
          </a:p>
        </p:txBody>
      </p:sp>
      <p:sp>
        <p:nvSpPr>
          <p:cNvPr id="5" name="Rounded Rectangle 4">
            <a:hlinkClick action="ppaction://hlinksldjump" r:id="rId5"/>
          </p:cNvPr>
          <p:cNvSpPr/>
          <p:nvPr/>
        </p:nvSpPr>
        <p:spPr>
          <a:xfrm>
            <a:off x="7610551"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Explore</a:t>
            </a:r>
          </a:p>
        </p:txBody>
      </p:sp>
      <p:sp>
        <p:nvSpPr>
          <p:cNvPr id="6" name="Rounded Rectangle 5">
            <a:hlinkClick action="ppaction://hlinksldjump" r:id="rId6"/>
          </p:cNvPr>
          <p:cNvSpPr/>
          <p:nvPr/>
        </p:nvSpPr>
        <p:spPr>
          <a:xfrm>
            <a:off x="8652967"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Models</a:t>
            </a:r>
          </a:p>
        </p:txBody>
      </p:sp>
      <p:sp>
        <p:nvSpPr>
          <p:cNvPr id="7" name="Rounded Rectangle 6">
            <a:hlinkClick action="ppaction://hlinksldjump" r:id="rId7"/>
          </p:cNvPr>
          <p:cNvSpPr/>
          <p:nvPr/>
        </p:nvSpPr>
        <p:spPr>
          <a:xfrm>
            <a:off x="9695383"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Results</a:t>
            </a:r>
          </a:p>
        </p:txBody>
      </p:sp>
      <p:sp>
        <p:nvSpPr>
          <p:cNvPr id="8" name="Rounded Rectangle 7">
            <a:hlinkClick action="ppaction://hlinksldjump" r:id="rId8"/>
          </p:cNvPr>
          <p:cNvSpPr/>
          <p:nvPr/>
        </p:nvSpPr>
        <p:spPr>
          <a:xfrm>
            <a:off x="10737799" y="201168"/>
            <a:ext cx="987552" cy="329184"/>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50" b="1">
                <a:solidFill>
                  <a:srgbClr val="FFFFFF"/>
                </a:solidFill>
                <a:latin typeface="Calibri"/>
              </a:rPr>
              <a:t>Quiz</a:t>
            </a:r>
          </a:p>
        </p:txBody>
      </p:sp>
      <p:sp>
        <p:nvSpPr>
          <p:cNvPr id="9" name="TextBox 8"/>
          <p:cNvSpPr txBox="1"/>
          <p:nvPr/>
        </p:nvSpPr>
        <p:spPr>
          <a:xfrm>
            <a:off x="822960" y="1828800"/>
            <a:ext cx="10058400" cy="914400"/>
          </a:xfrm>
          <a:prstGeom prst="rect">
            <a:avLst/>
          </a:prstGeom>
          <a:noFill/>
        </p:spPr>
        <p:txBody>
          <a:bodyPr wrap="square" anchor="t" lIns="73152" rIns="73152" tIns="73152" bIns="73152">
            <a:spAutoFit/>
          </a:bodyPr>
          <a:lstStyle/>
          <a:p>
            <a:pPr algn="l">
              <a:spcAft>
                <a:spcPts val="400"/>
              </a:spcAft>
            </a:pPr>
            <a:r>
              <a:rPr sz="5000" b="1">
                <a:solidFill>
                  <a:srgbClr val="FFFFFF"/>
                </a:solidFill>
                <a:latin typeface="Calibri"/>
              </a:rPr>
              <a:t>Thank you!</a:t>
            </a:r>
          </a:p>
        </p:txBody>
      </p:sp>
      <p:sp>
        <p:nvSpPr>
          <p:cNvPr id="10" name="TextBox 9"/>
          <p:cNvSpPr txBox="1"/>
          <p:nvPr/>
        </p:nvSpPr>
        <p:spPr>
          <a:xfrm>
            <a:off x="822960" y="2834640"/>
            <a:ext cx="10058400" cy="731520"/>
          </a:xfrm>
          <a:prstGeom prst="rect">
            <a:avLst/>
          </a:prstGeom>
          <a:noFill/>
        </p:spPr>
        <p:txBody>
          <a:bodyPr wrap="square" anchor="t" lIns="73152" rIns="73152" tIns="73152" bIns="73152">
            <a:spAutoFit/>
          </a:bodyPr>
          <a:lstStyle/>
          <a:p>
            <a:pPr algn="l">
              <a:spcAft>
                <a:spcPts val="400"/>
              </a:spcAft>
            </a:pPr>
            <a:r>
              <a:rPr sz="1800" b="0">
                <a:solidFill>
                  <a:srgbClr val="CBD5E1"/>
                </a:solidFill>
                <a:latin typeface="Calibri"/>
              </a:rPr>
              <a:t>Next steps to explore: GridSearchCV tuning, XGBoost/LightGBM, and a Streamlit app for live predictions.</a:t>
            </a:r>
          </a:p>
        </p:txBody>
      </p:sp>
      <p:sp>
        <p:nvSpPr>
          <p:cNvPr id="11" name="TextBox 10"/>
          <p:cNvSpPr txBox="1"/>
          <p:nvPr/>
        </p:nvSpPr>
        <p:spPr>
          <a:xfrm>
            <a:off x="822960" y="3703320"/>
            <a:ext cx="10058400" cy="457200"/>
          </a:xfrm>
          <a:prstGeom prst="rect">
            <a:avLst/>
          </a:prstGeom>
          <a:noFill/>
        </p:spPr>
        <p:txBody>
          <a:bodyPr wrap="square" anchor="t" lIns="73152" rIns="73152" tIns="73152" bIns="73152">
            <a:spAutoFit/>
          </a:bodyPr>
          <a:lstStyle/>
          <a:p>
            <a:pPr algn="l">
              <a:spcAft>
                <a:spcPts val="400"/>
              </a:spcAft>
            </a:pPr>
            <a:r>
              <a:rPr sz="1400" b="0">
                <a:solidFill>
                  <a:srgbClr val="14B8A6"/>
                </a:solidFill>
                <a:latin typeface="Calibri"/>
              </a:rPr>
              <a:t>Source: github.com/Vismay-dev1/AI-ML-Salary-Prediction</a:t>
            </a:r>
          </a:p>
        </p:txBody>
      </p:sp>
      <p:sp>
        <p:nvSpPr>
          <p:cNvPr id="12" name="Rounded Rectangle 11">
            <a:hlinkClick action="ppaction://hlinksldjump" r:id="rId2"/>
          </p:cNvPr>
          <p:cNvSpPr/>
          <p:nvPr/>
        </p:nvSpPr>
        <p:spPr>
          <a:xfrm>
            <a:off x="822960" y="4572000"/>
            <a:ext cx="2560320" cy="54864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a:solidFill>
                  <a:srgbClr val="0F172A"/>
                </a:solidFill>
                <a:latin typeface="Calibri"/>
              </a:rPr>
              <a:t>Back to agenda</a:t>
            </a:r>
          </a:p>
        </p:txBody>
      </p:sp>
      <p:sp>
        <p:nvSpPr>
          <p:cNvPr id="13" name="Rounded Rectangle 12">
            <a:hlinkClick action="ppaction://hlinksldjump" r:id="rId8"/>
          </p:cNvPr>
          <p:cNvSpPr/>
          <p:nvPr/>
        </p:nvSpPr>
        <p:spPr>
          <a:xfrm>
            <a:off x="3657600" y="4572000"/>
            <a:ext cx="2377440" cy="548640"/>
          </a:xfrm>
          <a:prstGeom prst="roundRect">
            <a:avLst>
              <a:gd name="adj" fmla="val 5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400" b="1">
                <a:solidFill>
                  <a:srgbClr val="FFFFFF"/>
                </a:solidFill>
                <a:latin typeface="Calibri"/>
              </a:rPr>
              <a:t>Retake quiz</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AI/ML Job Salary Prediction</dc:title>
  <dc:subject/>
  <dc:creator>Arena Agent Mode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